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12" name="演示文稿标题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13" name="正文级别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鳄梨和酸橙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演示文稿标题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23" name="作者和日期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24" name="正文级别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一碗三文鱼饼、沙拉和鹰嘴豆泥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幻灯片标题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幻灯片标题</a:t>
            </a:r>
          </a:p>
        </p:txBody>
      </p:sp>
      <p:sp>
        <p:nvSpPr>
          <p:cNvPr id="34" name="正文级别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幻灯片副标题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标题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43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44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61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一碗宽意大利面配有欧芹黄油、烤榛子和帕尔马干酪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6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章节标题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章节标题</a:t>
            </a:r>
          </a:p>
        </p:txBody>
      </p:sp>
      <p:sp>
        <p:nvSpPr>
          <p:cNvPr id="72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8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8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议程标题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议程标题</a:t>
            </a:r>
          </a:p>
        </p:txBody>
      </p:sp>
      <p:sp>
        <p:nvSpPr>
          <p:cNvPr id="89" name="议程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议程副标题</a:t>
            </a:r>
          </a:p>
        </p:txBody>
      </p:sp>
      <p:sp>
        <p:nvSpPr>
          <p:cNvPr id="90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议程主题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正文级别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说明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显著事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正文级别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事实信息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事实信息</a:t>
            </a:r>
          </a:p>
        </p:txBody>
      </p:sp>
      <p:sp>
        <p:nvSpPr>
          <p:cNvPr id="10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属性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属性</a:t>
            </a:r>
          </a:p>
        </p:txBody>
      </p:sp>
      <p:sp>
        <p:nvSpPr>
          <p:cNvPr id="116" name="正文级别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“著名引文”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一碗沙拉配有炒饭、水煮蛋和一双筷子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一碗三文鱼饼、沙拉和鹰嘴豆泥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一碗宽意大利面配有欧芹黄油、烤榛子和帕尔马干酪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一碗沙拉配有炒饭、水煮蛋和一双筷子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幻灯片标题</a:t>
            </a:r>
          </a:p>
        </p:txBody>
      </p:sp>
      <p:sp>
        <p:nvSpPr>
          <p:cNvPr id="3" name="正文级别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e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陈庆祥 2025.04.02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陈庆祥 2025.04.02</a:t>
            </a:r>
          </a:p>
        </p:txBody>
      </p:sp>
      <p:sp>
        <p:nvSpPr>
          <p:cNvPr id="152" name="Page Server分享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Page Server分享</a:t>
            </a:r>
          </a:p>
        </p:txBody>
      </p:sp>
      <p:sp>
        <p:nvSpPr>
          <p:cNvPr id="153" name="架构与关键路径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架构与关键路径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主要内容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45738">
              <a:defRPr spc="-149" sz="7480"/>
            </a:lvl1pPr>
          </a:lstStyle>
          <a:p>
            <a:pPr/>
            <a:r>
              <a:t>主要内容</a:t>
            </a:r>
          </a:p>
        </p:txBody>
      </p:sp>
      <p:sp>
        <p:nvSpPr>
          <p:cNvPr id="156" name="1. PS能力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1. PS能力</a:t>
            </a:r>
          </a:p>
          <a:p>
            <a:pPr/>
            <a:r>
              <a:t>2. PS架构</a:t>
            </a:r>
          </a:p>
          <a:p>
            <a:pPr/>
            <a:r>
              <a:t>3. PS关键路径</a:t>
            </a:r>
          </a:p>
          <a:p>
            <a:pPr/>
            <a:r>
              <a:t>4. PSM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ageServer的能力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45738">
              <a:defRPr spc="-149" sz="7480"/>
            </a:lvl1pPr>
          </a:lstStyle>
          <a:p>
            <a:pPr/>
            <a:r>
              <a:t>PageServer的能力</a:t>
            </a:r>
          </a:p>
        </p:txBody>
      </p:sp>
      <p:sp>
        <p:nvSpPr>
          <p:cNvPr id="159" name="从LogService拉取日志并持久化…"/>
          <p:cNvSpPr txBox="1"/>
          <p:nvPr>
            <p:ph type="body" sz="half" idx="1"/>
          </p:nvPr>
        </p:nvSpPr>
        <p:spPr>
          <a:xfrm>
            <a:off x="1206500" y="4248504"/>
            <a:ext cx="10148765" cy="8256012"/>
          </a:xfrm>
          <a:prstGeom prst="rect">
            <a:avLst/>
          </a:prstGeom>
        </p:spPr>
        <p:txBody>
          <a:bodyPr/>
          <a:lstStyle/>
          <a:p>
            <a:pPr/>
            <a:r>
              <a:t>从LogService拉取日志并持久化</a:t>
            </a:r>
          </a:p>
          <a:p>
            <a:pPr/>
            <a:r>
              <a:t>计算节点读取页面数据Rbio</a:t>
            </a:r>
          </a:p>
          <a:p>
            <a:pPr/>
            <a:r>
              <a:t>数据恢复功能</a:t>
            </a:r>
          </a:p>
        </p:txBody>
      </p:sp>
      <p:pic>
        <p:nvPicPr>
          <p:cNvPr id="160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17742" y="4475757"/>
            <a:ext cx="12905047" cy="50959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ageServer架构"/>
          <p:cNvSpPr txBox="1"/>
          <p:nvPr>
            <p:ph type="title"/>
          </p:nvPr>
        </p:nvSpPr>
        <p:spPr>
          <a:xfrm>
            <a:off x="1206500" y="1079500"/>
            <a:ext cx="7414415" cy="1433163"/>
          </a:xfrm>
          <a:prstGeom prst="rect">
            <a:avLst/>
          </a:prstGeom>
        </p:spPr>
        <p:txBody>
          <a:bodyPr/>
          <a:lstStyle>
            <a:lvl1pPr defTabSz="2145738">
              <a:defRPr spc="-149" sz="7480"/>
            </a:lvl1pPr>
          </a:lstStyle>
          <a:p>
            <a:pPr/>
            <a:r>
              <a:t>PageServer架构</a:t>
            </a:r>
          </a:p>
        </p:txBody>
      </p:sp>
      <p:grpSp>
        <p:nvGrpSpPr>
          <p:cNvPr id="165" name="LogService"/>
          <p:cNvGrpSpPr/>
          <p:nvPr/>
        </p:nvGrpSpPr>
        <p:grpSpPr>
          <a:xfrm>
            <a:off x="1985062" y="4278132"/>
            <a:ext cx="2497028" cy="829112"/>
            <a:chOff x="0" y="0"/>
            <a:chExt cx="2497027" cy="829110"/>
          </a:xfrm>
        </p:grpSpPr>
        <p:sp>
          <p:nvSpPr>
            <p:cNvPr id="164" name="LogService"/>
            <p:cNvSpPr/>
            <p:nvPr/>
          </p:nvSpPr>
          <p:spPr>
            <a:xfrm>
              <a:off x="38100" y="38100"/>
              <a:ext cx="2420828" cy="7529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LogService</a:t>
              </a:r>
            </a:p>
          </p:txBody>
        </p:sp>
        <p:pic>
          <p:nvPicPr>
            <p:cNvPr id="163" name="LogService LogService" descr="LogService LogService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2497028" cy="829111"/>
            </a:xfrm>
            <a:prstGeom prst="rect">
              <a:avLst/>
            </a:prstGeom>
            <a:effectLst/>
          </p:spPr>
        </p:pic>
      </p:grpSp>
      <p:grpSp>
        <p:nvGrpSpPr>
          <p:cNvPr id="168" name="Fetch"/>
          <p:cNvGrpSpPr/>
          <p:nvPr/>
        </p:nvGrpSpPr>
        <p:grpSpPr>
          <a:xfrm>
            <a:off x="5683211" y="4278132"/>
            <a:ext cx="1691412" cy="829112"/>
            <a:chOff x="0" y="0"/>
            <a:chExt cx="1691410" cy="829110"/>
          </a:xfrm>
        </p:grpSpPr>
        <p:sp>
          <p:nvSpPr>
            <p:cNvPr id="167" name="Fetch"/>
            <p:cNvSpPr/>
            <p:nvPr/>
          </p:nvSpPr>
          <p:spPr>
            <a:xfrm>
              <a:off x="38100" y="38100"/>
              <a:ext cx="1615211" cy="7529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Fetch</a:t>
              </a:r>
            </a:p>
          </p:txBody>
        </p:sp>
        <p:pic>
          <p:nvPicPr>
            <p:cNvPr id="166" name="Fetch Fetch" descr="Fetch Fetch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1" y="0"/>
              <a:ext cx="1691412" cy="829111"/>
            </a:xfrm>
            <a:prstGeom prst="rect">
              <a:avLst/>
            </a:prstGeom>
            <a:effectLst/>
          </p:spPr>
        </p:pic>
      </p:grpSp>
      <p:sp>
        <p:nvSpPr>
          <p:cNvPr id="169" name="线条"/>
          <p:cNvSpPr/>
          <p:nvPr/>
        </p:nvSpPr>
        <p:spPr>
          <a:xfrm>
            <a:off x="4414701" y="4729803"/>
            <a:ext cx="129250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grpSp>
        <p:nvGrpSpPr>
          <p:cNvPr id="172" name="Queue"/>
          <p:cNvGrpSpPr/>
          <p:nvPr/>
        </p:nvGrpSpPr>
        <p:grpSpPr>
          <a:xfrm>
            <a:off x="7927047" y="5406993"/>
            <a:ext cx="918428" cy="3889420"/>
            <a:chOff x="0" y="0"/>
            <a:chExt cx="918426" cy="3889419"/>
          </a:xfrm>
        </p:grpSpPr>
        <p:sp>
          <p:nvSpPr>
            <p:cNvPr id="171" name="Queue"/>
            <p:cNvSpPr/>
            <p:nvPr/>
          </p:nvSpPr>
          <p:spPr>
            <a:xfrm>
              <a:off x="38100" y="38099"/>
              <a:ext cx="842227" cy="3813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vert="eaVert"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Queue</a:t>
              </a:r>
            </a:p>
          </p:txBody>
        </p:sp>
        <p:pic>
          <p:nvPicPr>
            <p:cNvPr id="170" name="Queue Queue" descr="Queue Queue"/>
            <p:cNvPicPr>
              <a:picLocks noChangeAspect="0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-1"/>
              <a:ext cx="918427" cy="3889421"/>
            </a:xfrm>
            <a:prstGeom prst="rect">
              <a:avLst/>
            </a:prstGeom>
            <a:effectLst/>
          </p:spPr>
        </p:pic>
      </p:grpSp>
      <p:sp>
        <p:nvSpPr>
          <p:cNvPr id="228" name="连接线"/>
          <p:cNvSpPr/>
          <p:nvPr/>
        </p:nvSpPr>
        <p:spPr>
          <a:xfrm>
            <a:off x="7373620" y="4692650"/>
            <a:ext cx="1012191" cy="7137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pPr/>
          </a:p>
        </p:txBody>
      </p:sp>
      <p:grpSp>
        <p:nvGrpSpPr>
          <p:cNvPr id="176" name="Parse"/>
          <p:cNvGrpSpPr/>
          <p:nvPr/>
        </p:nvGrpSpPr>
        <p:grpSpPr>
          <a:xfrm>
            <a:off x="5683211" y="6937147"/>
            <a:ext cx="1691412" cy="829112"/>
            <a:chOff x="0" y="0"/>
            <a:chExt cx="1691410" cy="829110"/>
          </a:xfrm>
        </p:grpSpPr>
        <p:sp>
          <p:nvSpPr>
            <p:cNvPr id="175" name="Parse"/>
            <p:cNvSpPr/>
            <p:nvPr/>
          </p:nvSpPr>
          <p:spPr>
            <a:xfrm>
              <a:off x="38100" y="38100"/>
              <a:ext cx="1615211" cy="7529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Parse</a:t>
              </a:r>
            </a:p>
          </p:txBody>
        </p:sp>
        <p:pic>
          <p:nvPicPr>
            <p:cNvPr id="174" name="Parse Parse" descr="Parse Parse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1" y="0"/>
              <a:ext cx="1691412" cy="829111"/>
            </a:xfrm>
            <a:prstGeom prst="rect">
              <a:avLst/>
            </a:prstGeom>
            <a:effectLst/>
          </p:spPr>
        </p:pic>
      </p:grpSp>
      <p:grpSp>
        <p:nvGrpSpPr>
          <p:cNvPr id="179" name="GC"/>
          <p:cNvGrpSpPr/>
          <p:nvPr/>
        </p:nvGrpSpPr>
        <p:grpSpPr>
          <a:xfrm>
            <a:off x="5683211" y="9434572"/>
            <a:ext cx="1691412" cy="829112"/>
            <a:chOff x="0" y="0"/>
            <a:chExt cx="1691410" cy="829110"/>
          </a:xfrm>
        </p:grpSpPr>
        <p:sp>
          <p:nvSpPr>
            <p:cNvPr id="178" name="GC"/>
            <p:cNvSpPr/>
            <p:nvPr/>
          </p:nvSpPr>
          <p:spPr>
            <a:xfrm>
              <a:off x="38100" y="38100"/>
              <a:ext cx="1615211" cy="7529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GC</a:t>
              </a:r>
            </a:p>
          </p:txBody>
        </p:sp>
        <p:pic>
          <p:nvPicPr>
            <p:cNvPr id="177" name="GC GC" descr="GC GC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1" y="0"/>
              <a:ext cx="1691412" cy="829111"/>
            </a:xfrm>
            <a:prstGeom prst="rect">
              <a:avLst/>
            </a:prstGeom>
            <a:effectLst/>
          </p:spPr>
        </p:pic>
      </p:grpSp>
      <p:sp>
        <p:nvSpPr>
          <p:cNvPr id="229" name="连接线"/>
          <p:cNvSpPr/>
          <p:nvPr/>
        </p:nvSpPr>
        <p:spPr>
          <a:xfrm>
            <a:off x="6527800" y="6223000"/>
            <a:ext cx="1445261" cy="7137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230" name="连接线"/>
          <p:cNvSpPr/>
          <p:nvPr/>
        </p:nvSpPr>
        <p:spPr>
          <a:xfrm>
            <a:off x="6527800" y="7766050"/>
            <a:ext cx="1435100" cy="717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182" name="Log block"/>
          <p:cNvSpPr txBox="1"/>
          <p:nvPr/>
        </p:nvSpPr>
        <p:spPr>
          <a:xfrm>
            <a:off x="6038774" y="5540094"/>
            <a:ext cx="1463650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Log block</a:t>
            </a:r>
          </a:p>
        </p:txBody>
      </p:sp>
      <p:sp>
        <p:nvSpPr>
          <p:cNvPr id="231" name="连接线"/>
          <p:cNvSpPr/>
          <p:nvPr/>
        </p:nvSpPr>
        <p:spPr>
          <a:xfrm>
            <a:off x="7373620" y="9295130"/>
            <a:ext cx="1012191" cy="5537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pPr/>
          </a:p>
        </p:txBody>
      </p:sp>
      <p:grpSp>
        <p:nvGrpSpPr>
          <p:cNvPr id="186" name="Page store"/>
          <p:cNvGrpSpPr/>
          <p:nvPr/>
        </p:nvGrpSpPr>
        <p:grpSpPr>
          <a:xfrm>
            <a:off x="5680939" y="11694566"/>
            <a:ext cx="14351772" cy="829112"/>
            <a:chOff x="0" y="0"/>
            <a:chExt cx="14351770" cy="829110"/>
          </a:xfrm>
        </p:grpSpPr>
        <p:sp>
          <p:nvSpPr>
            <p:cNvPr id="185" name="Page store"/>
            <p:cNvSpPr/>
            <p:nvPr/>
          </p:nvSpPr>
          <p:spPr>
            <a:xfrm>
              <a:off x="38100" y="38100"/>
              <a:ext cx="14275571" cy="7529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Page store</a:t>
              </a:r>
            </a:p>
          </p:txBody>
        </p:sp>
        <p:pic>
          <p:nvPicPr>
            <p:cNvPr id="184" name="Page store Page store" descr="Page store Page store"/>
            <p:cNvPicPr>
              <a:picLocks noChangeAspect="0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0" y="0"/>
              <a:ext cx="14351771" cy="829111"/>
            </a:xfrm>
            <a:prstGeom prst="rect">
              <a:avLst/>
            </a:prstGeom>
            <a:effectLst/>
          </p:spPr>
        </p:pic>
      </p:grpSp>
      <p:grpSp>
        <p:nvGrpSpPr>
          <p:cNvPr id="189" name="Space manager"/>
          <p:cNvGrpSpPr/>
          <p:nvPr/>
        </p:nvGrpSpPr>
        <p:grpSpPr>
          <a:xfrm>
            <a:off x="5713257" y="10780458"/>
            <a:ext cx="5359389" cy="727711"/>
            <a:chOff x="0" y="0"/>
            <a:chExt cx="5359387" cy="727709"/>
          </a:xfrm>
        </p:grpSpPr>
        <p:sp>
          <p:nvSpPr>
            <p:cNvPr id="188" name="Space manager"/>
            <p:cNvSpPr/>
            <p:nvPr/>
          </p:nvSpPr>
          <p:spPr>
            <a:xfrm>
              <a:off x="38100" y="38100"/>
              <a:ext cx="5283188" cy="6515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Space manager</a:t>
              </a:r>
            </a:p>
          </p:txBody>
        </p:sp>
        <p:pic>
          <p:nvPicPr>
            <p:cNvPr id="187" name="Space manager Space manager" descr="Space manager Space manager"/>
            <p:cNvPicPr>
              <a:picLocks noChangeAspect="0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0" y="0"/>
              <a:ext cx="5359388" cy="727710"/>
            </a:xfrm>
            <a:prstGeom prst="rect">
              <a:avLst/>
            </a:prstGeom>
            <a:effectLst/>
          </p:spPr>
        </p:pic>
      </p:grpSp>
      <p:sp>
        <p:nvSpPr>
          <p:cNvPr id="232" name="连接线"/>
          <p:cNvSpPr/>
          <p:nvPr/>
        </p:nvSpPr>
        <p:spPr>
          <a:xfrm>
            <a:off x="3736340" y="7350760"/>
            <a:ext cx="1976120" cy="37934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267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191" name="Create page…"/>
          <p:cNvSpPr txBox="1"/>
          <p:nvPr/>
        </p:nvSpPr>
        <p:spPr>
          <a:xfrm>
            <a:off x="1797874" y="8611489"/>
            <a:ext cx="1785214" cy="829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Create page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append log</a:t>
            </a:r>
          </a:p>
        </p:txBody>
      </p:sp>
      <p:pic>
        <p:nvPicPr>
          <p:cNvPr id="192" name="矩形 矩形" descr="矩形 矩形"/>
          <p:cNvPicPr>
            <a:picLocks noChangeAspect="0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7683523" y="4278132"/>
            <a:ext cx="12172596" cy="6315928"/>
          </a:xfrm>
          <a:prstGeom prst="rect">
            <a:avLst/>
          </a:prstGeom>
        </p:spPr>
      </p:pic>
      <p:pic>
        <p:nvPicPr>
          <p:cNvPr id="194" name="矩形 矩形" descr="矩形 矩形"/>
          <p:cNvPicPr>
            <a:picLocks noChangeAspect="0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5128122" y="2786912"/>
            <a:ext cx="15244746" cy="10222567"/>
          </a:xfrm>
          <a:prstGeom prst="rect">
            <a:avLst/>
          </a:prstGeom>
        </p:spPr>
      </p:pic>
      <p:sp>
        <p:nvSpPr>
          <p:cNvPr id="196" name="PageServer"/>
          <p:cNvSpPr txBox="1"/>
          <p:nvPr/>
        </p:nvSpPr>
        <p:spPr>
          <a:xfrm>
            <a:off x="5414438" y="3014634"/>
            <a:ext cx="1694384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PageServer</a:t>
            </a:r>
          </a:p>
        </p:txBody>
      </p:sp>
      <p:grpSp>
        <p:nvGrpSpPr>
          <p:cNvPr id="199" name="Cmp"/>
          <p:cNvGrpSpPr/>
          <p:nvPr/>
        </p:nvGrpSpPr>
        <p:grpSpPr>
          <a:xfrm>
            <a:off x="16461295" y="1415709"/>
            <a:ext cx="2497029" cy="829111"/>
            <a:chOff x="0" y="0"/>
            <a:chExt cx="2497027" cy="829110"/>
          </a:xfrm>
        </p:grpSpPr>
        <p:sp>
          <p:nvSpPr>
            <p:cNvPr id="198" name="Cmp"/>
            <p:cNvSpPr/>
            <p:nvPr/>
          </p:nvSpPr>
          <p:spPr>
            <a:xfrm>
              <a:off x="38100" y="38100"/>
              <a:ext cx="2420828" cy="7529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Cmp</a:t>
              </a:r>
            </a:p>
          </p:txBody>
        </p:sp>
        <p:pic>
          <p:nvPicPr>
            <p:cNvPr id="197" name="Cmp Cmp" descr="Cmp Cmp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2497028" cy="829111"/>
            </a:xfrm>
            <a:prstGeom prst="rect">
              <a:avLst/>
            </a:prstGeom>
            <a:effectLst/>
          </p:spPr>
        </p:pic>
      </p:grpSp>
      <p:sp>
        <p:nvSpPr>
          <p:cNvPr id="200" name="Segment"/>
          <p:cNvSpPr txBox="1"/>
          <p:nvPr/>
        </p:nvSpPr>
        <p:spPr>
          <a:xfrm>
            <a:off x="18274411" y="4608509"/>
            <a:ext cx="1339597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Segment</a:t>
            </a:r>
          </a:p>
        </p:txBody>
      </p:sp>
      <p:grpSp>
        <p:nvGrpSpPr>
          <p:cNvPr id="203" name="Rbio service"/>
          <p:cNvGrpSpPr/>
          <p:nvPr/>
        </p:nvGrpSpPr>
        <p:grpSpPr>
          <a:xfrm>
            <a:off x="16216638" y="3262623"/>
            <a:ext cx="2958129" cy="829111"/>
            <a:chOff x="0" y="0"/>
            <a:chExt cx="2958127" cy="829110"/>
          </a:xfrm>
        </p:grpSpPr>
        <p:sp>
          <p:nvSpPr>
            <p:cNvPr id="202" name="Rbio service"/>
            <p:cNvSpPr/>
            <p:nvPr/>
          </p:nvSpPr>
          <p:spPr>
            <a:xfrm>
              <a:off x="38100" y="38100"/>
              <a:ext cx="2881928" cy="7529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Rbio service</a:t>
              </a:r>
            </a:p>
          </p:txBody>
        </p:sp>
        <p:pic>
          <p:nvPicPr>
            <p:cNvPr id="201" name="Rbio service Rbio service" descr="Rbio service Rbio service"/>
            <p:cNvPicPr>
              <a:picLocks noChangeAspect="0"/>
            </p:cNvPicPr>
            <p:nvPr/>
          </p:nvPicPr>
          <p:blipFill>
            <a:blip r:embed="rId9">
              <a:extLst/>
            </a:blip>
            <a:stretch>
              <a:fillRect/>
            </a:stretch>
          </p:blipFill>
          <p:spPr>
            <a:xfrm>
              <a:off x="0" y="0"/>
              <a:ext cx="2958128" cy="829111"/>
            </a:xfrm>
            <a:prstGeom prst="rect">
              <a:avLst/>
            </a:prstGeom>
            <a:effectLst/>
          </p:spPr>
        </p:pic>
      </p:grpSp>
      <p:grpSp>
        <p:nvGrpSpPr>
          <p:cNvPr id="206" name="db engine"/>
          <p:cNvGrpSpPr/>
          <p:nvPr/>
        </p:nvGrpSpPr>
        <p:grpSpPr>
          <a:xfrm>
            <a:off x="9270097" y="9221348"/>
            <a:ext cx="6362385" cy="1042335"/>
            <a:chOff x="0" y="0"/>
            <a:chExt cx="6362384" cy="1042334"/>
          </a:xfrm>
        </p:grpSpPr>
        <p:sp>
          <p:nvSpPr>
            <p:cNvPr id="205" name="db engine"/>
            <p:cNvSpPr/>
            <p:nvPr/>
          </p:nvSpPr>
          <p:spPr>
            <a:xfrm>
              <a:off x="38100" y="38100"/>
              <a:ext cx="6286185" cy="966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db engine</a:t>
              </a:r>
            </a:p>
          </p:txBody>
        </p:sp>
        <p:pic>
          <p:nvPicPr>
            <p:cNvPr id="204" name="db engine db engine" descr="db engine db engine"/>
            <p:cNvPicPr>
              <a:picLocks noChangeAspect="0"/>
            </p:cNvPicPr>
            <p:nvPr/>
          </p:nvPicPr>
          <p:blipFill>
            <a:blip r:embed="rId10">
              <a:extLst/>
            </a:blip>
            <a:stretch>
              <a:fillRect/>
            </a:stretch>
          </p:blipFill>
          <p:spPr>
            <a:xfrm>
              <a:off x="0" y="0"/>
              <a:ext cx="6362385" cy="1042335"/>
            </a:xfrm>
            <a:prstGeom prst="rect">
              <a:avLst/>
            </a:prstGeom>
            <a:effectLst/>
          </p:spPr>
        </p:pic>
      </p:grpSp>
      <p:sp>
        <p:nvSpPr>
          <p:cNvPr id="207" name="线条"/>
          <p:cNvSpPr/>
          <p:nvPr/>
        </p:nvSpPr>
        <p:spPr>
          <a:xfrm>
            <a:off x="6582038" y="10198180"/>
            <a:ext cx="1" cy="61341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08" name="线条"/>
          <p:cNvSpPr/>
          <p:nvPr/>
        </p:nvSpPr>
        <p:spPr>
          <a:xfrm flipV="1">
            <a:off x="9973165" y="10290549"/>
            <a:ext cx="1" cy="463044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09" name="线条"/>
          <p:cNvSpPr/>
          <p:nvPr/>
        </p:nvSpPr>
        <p:spPr>
          <a:xfrm>
            <a:off x="12343242" y="10199954"/>
            <a:ext cx="1" cy="1551468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0" name="线条"/>
          <p:cNvSpPr/>
          <p:nvPr/>
        </p:nvSpPr>
        <p:spPr>
          <a:xfrm>
            <a:off x="17675597" y="2226970"/>
            <a:ext cx="1" cy="1042335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1" name="fetch_lsn"/>
          <p:cNvSpPr txBox="1"/>
          <p:nvPr/>
        </p:nvSpPr>
        <p:spPr>
          <a:xfrm>
            <a:off x="9996956" y="5733277"/>
            <a:ext cx="1339292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fetch_lsn</a:t>
            </a:r>
          </a:p>
        </p:txBody>
      </p:sp>
      <p:sp>
        <p:nvSpPr>
          <p:cNvPr id="212" name="parse_lsn"/>
          <p:cNvSpPr txBox="1"/>
          <p:nvPr/>
        </p:nvSpPr>
        <p:spPr>
          <a:xfrm>
            <a:off x="11848027" y="5733277"/>
            <a:ext cx="1418236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parse_lsn</a:t>
            </a:r>
          </a:p>
        </p:txBody>
      </p:sp>
      <p:sp>
        <p:nvSpPr>
          <p:cNvPr id="213" name="gc_lsn"/>
          <p:cNvSpPr txBox="1"/>
          <p:nvPr/>
        </p:nvSpPr>
        <p:spPr>
          <a:xfrm>
            <a:off x="13926262" y="5733277"/>
            <a:ext cx="994868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gc_lsn</a:t>
            </a:r>
          </a:p>
        </p:txBody>
      </p:sp>
      <p:sp>
        <p:nvSpPr>
          <p:cNvPr id="214" name="线条"/>
          <p:cNvSpPr/>
          <p:nvPr/>
        </p:nvSpPr>
        <p:spPr>
          <a:xfrm>
            <a:off x="9618103" y="6345401"/>
            <a:ext cx="619223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5" name="线条"/>
          <p:cNvSpPr/>
          <p:nvPr/>
        </p:nvSpPr>
        <p:spPr>
          <a:xfrm flipV="1">
            <a:off x="14377983" y="6158977"/>
            <a:ext cx="1" cy="461366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6" name="线条"/>
          <p:cNvSpPr/>
          <p:nvPr/>
        </p:nvSpPr>
        <p:spPr>
          <a:xfrm flipV="1">
            <a:off x="12534269" y="6189022"/>
            <a:ext cx="1" cy="46136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7" name="线条"/>
          <p:cNvSpPr/>
          <p:nvPr/>
        </p:nvSpPr>
        <p:spPr>
          <a:xfrm flipV="1">
            <a:off x="10666601" y="6186750"/>
            <a:ext cx="1" cy="461366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33" name="连接线"/>
          <p:cNvSpPr/>
          <p:nvPr/>
        </p:nvSpPr>
        <p:spPr>
          <a:xfrm>
            <a:off x="15631160" y="4090670"/>
            <a:ext cx="2063750" cy="5651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219" name="vlsn, space_id, logical_page_no"/>
          <p:cNvSpPr txBox="1"/>
          <p:nvPr/>
        </p:nvSpPr>
        <p:spPr>
          <a:xfrm>
            <a:off x="17861261" y="2285183"/>
            <a:ext cx="4432708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vlsn, space_id, logical_page_no</a:t>
            </a:r>
          </a:p>
        </p:txBody>
      </p:sp>
      <p:grpSp>
        <p:nvGrpSpPr>
          <p:cNvPr id="222" name="Recovery"/>
          <p:cNvGrpSpPr/>
          <p:nvPr/>
        </p:nvGrpSpPr>
        <p:grpSpPr>
          <a:xfrm>
            <a:off x="21018899" y="7096466"/>
            <a:ext cx="2259251" cy="829111"/>
            <a:chOff x="0" y="0"/>
            <a:chExt cx="2259249" cy="829110"/>
          </a:xfrm>
        </p:grpSpPr>
        <p:sp>
          <p:nvSpPr>
            <p:cNvPr id="221" name="Recovery"/>
            <p:cNvSpPr/>
            <p:nvPr/>
          </p:nvSpPr>
          <p:spPr>
            <a:xfrm>
              <a:off x="38100" y="38100"/>
              <a:ext cx="2183050" cy="7529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Recovery</a:t>
              </a:r>
            </a:p>
          </p:txBody>
        </p:sp>
        <p:pic>
          <p:nvPicPr>
            <p:cNvPr id="220" name="Recovery Recovery" descr="Recovery Recovery"/>
            <p:cNvPicPr>
              <a:picLocks noChangeAspect="0"/>
            </p:cNvPicPr>
            <p:nvPr/>
          </p:nvPicPr>
          <p:blipFill>
            <a:blip r:embed="rId11">
              <a:extLst/>
            </a:blip>
            <a:stretch>
              <a:fillRect/>
            </a:stretch>
          </p:blipFill>
          <p:spPr>
            <a:xfrm>
              <a:off x="0" y="0"/>
              <a:ext cx="2259250" cy="829111"/>
            </a:xfrm>
            <a:prstGeom prst="rect">
              <a:avLst/>
            </a:prstGeom>
            <a:effectLst/>
          </p:spPr>
        </p:pic>
      </p:grpSp>
      <p:sp>
        <p:nvSpPr>
          <p:cNvPr id="223" name="ps_lowest_lsn = min(seg_1_gc_lsn, seg_2_gc_lsn …)"/>
          <p:cNvSpPr txBox="1"/>
          <p:nvPr/>
        </p:nvSpPr>
        <p:spPr>
          <a:xfrm>
            <a:off x="9260180" y="7477313"/>
            <a:ext cx="7285635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ps_lowest_lsn = min(seg_1_gc_lsn, seg_2_gc_lsn …)</a:t>
            </a:r>
          </a:p>
        </p:txBody>
      </p:sp>
      <p:grpSp>
        <p:nvGrpSpPr>
          <p:cNvPr id="226" name="meta"/>
          <p:cNvGrpSpPr/>
          <p:nvPr/>
        </p:nvGrpSpPr>
        <p:grpSpPr>
          <a:xfrm>
            <a:off x="17869569" y="9214660"/>
            <a:ext cx="1691412" cy="1042335"/>
            <a:chOff x="0" y="0"/>
            <a:chExt cx="1691410" cy="1042334"/>
          </a:xfrm>
        </p:grpSpPr>
        <p:sp>
          <p:nvSpPr>
            <p:cNvPr id="225" name="meta"/>
            <p:cNvSpPr/>
            <p:nvPr/>
          </p:nvSpPr>
          <p:spPr>
            <a:xfrm>
              <a:off x="38100" y="38100"/>
              <a:ext cx="1615211" cy="966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meta</a:t>
              </a:r>
            </a:p>
          </p:txBody>
        </p:sp>
        <p:pic>
          <p:nvPicPr>
            <p:cNvPr id="224" name="meta meta" descr="meta meta"/>
            <p:cNvPicPr>
              <a:picLocks noChangeAspect="0"/>
            </p:cNvPicPr>
            <p:nvPr/>
          </p:nvPicPr>
          <p:blipFill>
            <a:blip r:embed="rId12">
              <a:extLst/>
            </a:blip>
            <a:stretch>
              <a:fillRect/>
            </a:stretch>
          </p:blipFill>
          <p:spPr>
            <a:xfrm>
              <a:off x="-1" y="0"/>
              <a:ext cx="1691412" cy="1042335"/>
            </a:xfrm>
            <a:prstGeom prst="rect">
              <a:avLst/>
            </a:prstGeom>
            <a:effectLst/>
          </p:spPr>
        </p:pic>
      </p:grpSp>
      <p:sp>
        <p:nvSpPr>
          <p:cNvPr id="227" name="线条"/>
          <p:cNvSpPr/>
          <p:nvPr/>
        </p:nvSpPr>
        <p:spPr>
          <a:xfrm>
            <a:off x="18818673" y="10234357"/>
            <a:ext cx="1" cy="143316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ageServer日志处理流程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45738">
              <a:defRPr spc="-149" sz="7480"/>
            </a:lvl1pPr>
          </a:lstStyle>
          <a:p>
            <a:pPr/>
            <a:r>
              <a:t>PageServer日志处理流程</a:t>
            </a:r>
          </a:p>
        </p:txBody>
      </p:sp>
      <p:sp>
        <p:nvSpPr>
          <p:cNvPr id="236" name="pageserver通过psm获取logservice地址…"/>
          <p:cNvSpPr txBox="1"/>
          <p:nvPr>
            <p:ph type="body" sz="half" idx="1"/>
          </p:nvPr>
        </p:nvSpPr>
        <p:spPr>
          <a:xfrm>
            <a:off x="1206500" y="4248504"/>
            <a:ext cx="12405603" cy="8256012"/>
          </a:xfrm>
          <a:prstGeom prst="rect">
            <a:avLst/>
          </a:prstGeom>
        </p:spPr>
        <p:txBody>
          <a:bodyPr/>
          <a:lstStyle/>
          <a:p>
            <a:pPr marL="505968" indent="-505968" defTabSz="2023821">
              <a:spcBef>
                <a:spcPts val="3700"/>
              </a:spcBef>
              <a:defRPr sz="3984"/>
            </a:pPr>
            <a:r>
              <a:t>pageserver通过psm获取logservice地址</a:t>
            </a:r>
          </a:p>
          <a:p>
            <a:pPr marL="505968" indent="-505968" defTabSz="2023821">
              <a:spcBef>
                <a:spcPts val="3700"/>
              </a:spcBef>
              <a:defRPr sz="3984"/>
            </a:pPr>
            <a:r>
              <a:t>pageserver定期找logService拉取segment对应日志，pageserver负责哪个segment由psm管理，推进fetch_lsn，下次从这个lsn开始拉取</a:t>
            </a:r>
          </a:p>
          <a:p>
            <a:pPr marL="505968" indent="-505968" defTabSz="2023821">
              <a:spcBef>
                <a:spcPts val="3700"/>
              </a:spcBef>
              <a:defRPr sz="3984"/>
            </a:pPr>
            <a:r>
              <a:t>拉取到对应日志块后放入队列，由parser线程获取对应的日志块进行解析。log record中可以得知page no，放入对应的页面中。推进parser_lsn。可服务小于此lsn的rbio请求</a:t>
            </a:r>
          </a:p>
          <a:p>
            <a:pPr marL="505968" indent="-505968" defTabSz="2023821">
              <a:spcBef>
                <a:spcPts val="3700"/>
              </a:spcBef>
              <a:defRPr sz="3984"/>
            </a:pPr>
            <a:r>
              <a:t>Gc线程判断对应日志块是否可以回收，判断标准为日志块的end_lsn是否小于计算节点的最低lsn</a:t>
            </a:r>
          </a:p>
        </p:txBody>
      </p:sp>
      <p:grpSp>
        <p:nvGrpSpPr>
          <p:cNvPr id="239" name="end_lsn…"/>
          <p:cNvGrpSpPr/>
          <p:nvPr/>
        </p:nvGrpSpPr>
        <p:grpSpPr>
          <a:xfrm>
            <a:off x="14750708" y="4859858"/>
            <a:ext cx="1863606" cy="1346201"/>
            <a:chOff x="0" y="0"/>
            <a:chExt cx="1863604" cy="1346200"/>
          </a:xfrm>
        </p:grpSpPr>
        <p:sp>
          <p:nvSpPr>
            <p:cNvPr id="238" name="end_lsn…"/>
            <p:cNvSpPr/>
            <p:nvPr/>
          </p:nvSpPr>
          <p:spPr>
            <a:xfrm>
              <a:off x="38100" y="38100"/>
              <a:ext cx="1787405" cy="127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r>
                <a:t>end_lsn</a:t>
              </a:r>
            </a:p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r>
                <a:t>8 bytes</a:t>
              </a:r>
            </a:p>
          </p:txBody>
        </p:sp>
        <p:pic>
          <p:nvPicPr>
            <p:cNvPr id="237" name="end_lsn… end_lsn8 bytes" descr="end_lsn… end_lsn8 bytes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863605" cy="1346200"/>
            </a:xfrm>
            <a:prstGeom prst="rect">
              <a:avLst/>
            </a:prstGeom>
            <a:effectLst/>
          </p:spPr>
        </p:pic>
      </p:grpSp>
      <p:grpSp>
        <p:nvGrpSpPr>
          <p:cNvPr id="242" name="Redo log"/>
          <p:cNvGrpSpPr/>
          <p:nvPr/>
        </p:nvGrpSpPr>
        <p:grpSpPr>
          <a:xfrm>
            <a:off x="16558249" y="4857586"/>
            <a:ext cx="1863606" cy="1346201"/>
            <a:chOff x="0" y="0"/>
            <a:chExt cx="1863604" cy="1346200"/>
          </a:xfrm>
        </p:grpSpPr>
        <p:sp>
          <p:nvSpPr>
            <p:cNvPr id="241" name="Redo log"/>
            <p:cNvSpPr/>
            <p:nvPr/>
          </p:nvSpPr>
          <p:spPr>
            <a:xfrm>
              <a:off x="38100" y="38100"/>
              <a:ext cx="1787405" cy="127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Redo log</a:t>
              </a:r>
            </a:p>
          </p:txBody>
        </p:sp>
        <p:pic>
          <p:nvPicPr>
            <p:cNvPr id="240" name="Redo log Redo log" descr="Redo log Redo log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863605" cy="1346200"/>
            </a:xfrm>
            <a:prstGeom prst="rect">
              <a:avLst/>
            </a:prstGeom>
            <a:effectLst/>
          </p:spPr>
        </p:pic>
      </p:grpSp>
      <p:grpSp>
        <p:nvGrpSpPr>
          <p:cNvPr id="245" name="end_lsn…"/>
          <p:cNvGrpSpPr/>
          <p:nvPr/>
        </p:nvGrpSpPr>
        <p:grpSpPr>
          <a:xfrm>
            <a:off x="18354175" y="4859858"/>
            <a:ext cx="1863606" cy="1346201"/>
            <a:chOff x="0" y="0"/>
            <a:chExt cx="1863604" cy="1346200"/>
          </a:xfrm>
        </p:grpSpPr>
        <p:sp>
          <p:nvSpPr>
            <p:cNvPr id="244" name="end_lsn…"/>
            <p:cNvSpPr/>
            <p:nvPr/>
          </p:nvSpPr>
          <p:spPr>
            <a:xfrm>
              <a:off x="38100" y="38100"/>
              <a:ext cx="1787405" cy="127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r>
                <a:t>end_lsn</a:t>
              </a:r>
            </a:p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r>
                <a:t>8 bytes</a:t>
              </a:r>
            </a:p>
          </p:txBody>
        </p:sp>
        <p:pic>
          <p:nvPicPr>
            <p:cNvPr id="243" name="end_lsn… end_lsn8 bytes" descr="end_lsn… end_lsn8 bytes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863605" cy="1346200"/>
            </a:xfrm>
            <a:prstGeom prst="rect">
              <a:avLst/>
            </a:prstGeom>
            <a:effectLst/>
          </p:spPr>
        </p:pic>
      </p:grpSp>
      <p:grpSp>
        <p:nvGrpSpPr>
          <p:cNvPr id="248" name="Redo log"/>
          <p:cNvGrpSpPr/>
          <p:nvPr/>
        </p:nvGrpSpPr>
        <p:grpSpPr>
          <a:xfrm>
            <a:off x="20161716" y="4857586"/>
            <a:ext cx="1863606" cy="1346201"/>
            <a:chOff x="0" y="0"/>
            <a:chExt cx="1863604" cy="1346200"/>
          </a:xfrm>
        </p:grpSpPr>
        <p:sp>
          <p:nvSpPr>
            <p:cNvPr id="247" name="Redo log"/>
            <p:cNvSpPr/>
            <p:nvPr/>
          </p:nvSpPr>
          <p:spPr>
            <a:xfrm>
              <a:off x="38100" y="38100"/>
              <a:ext cx="1787405" cy="127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Redo log</a:t>
              </a:r>
            </a:p>
          </p:txBody>
        </p:sp>
        <p:pic>
          <p:nvPicPr>
            <p:cNvPr id="246" name="Redo log Redo log" descr="Redo log Redo log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863605" cy="1346200"/>
            </a:xfrm>
            <a:prstGeom prst="rect">
              <a:avLst/>
            </a:prstGeom>
            <a:effectLst/>
          </p:spPr>
        </p:pic>
      </p:grpSp>
      <p:grpSp>
        <p:nvGrpSpPr>
          <p:cNvPr id="251" name="…"/>
          <p:cNvGrpSpPr/>
          <p:nvPr/>
        </p:nvGrpSpPr>
        <p:grpSpPr>
          <a:xfrm>
            <a:off x="21957642" y="4855313"/>
            <a:ext cx="1863606" cy="1346201"/>
            <a:chOff x="0" y="0"/>
            <a:chExt cx="1863604" cy="1346200"/>
          </a:xfrm>
        </p:grpSpPr>
        <p:sp>
          <p:nvSpPr>
            <p:cNvPr id="250" name="…"/>
            <p:cNvSpPr/>
            <p:nvPr/>
          </p:nvSpPr>
          <p:spPr>
            <a:xfrm>
              <a:off x="38100" y="38100"/>
              <a:ext cx="1787405" cy="127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…</a:t>
              </a:r>
            </a:p>
          </p:txBody>
        </p:sp>
        <p:pic>
          <p:nvPicPr>
            <p:cNvPr id="249" name="… …" descr="… …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863605" cy="1346200"/>
            </a:xfrm>
            <a:prstGeom prst="rect">
              <a:avLst/>
            </a:prstGeom>
            <a:effectLst/>
          </p:spPr>
        </p:pic>
      </p:grpSp>
      <p:sp>
        <p:nvSpPr>
          <p:cNvPr id="252" name="Log Block"/>
          <p:cNvSpPr txBox="1"/>
          <p:nvPr/>
        </p:nvSpPr>
        <p:spPr>
          <a:xfrm>
            <a:off x="14904189" y="4176297"/>
            <a:ext cx="149169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Log Block</a:t>
            </a:r>
          </a:p>
        </p:txBody>
      </p:sp>
      <p:grpSp>
        <p:nvGrpSpPr>
          <p:cNvPr id="255" name="Type"/>
          <p:cNvGrpSpPr/>
          <p:nvPr/>
        </p:nvGrpSpPr>
        <p:grpSpPr>
          <a:xfrm>
            <a:off x="14732277" y="7933168"/>
            <a:ext cx="1863606" cy="1346201"/>
            <a:chOff x="0" y="0"/>
            <a:chExt cx="1863604" cy="1346200"/>
          </a:xfrm>
        </p:grpSpPr>
        <p:sp>
          <p:nvSpPr>
            <p:cNvPr id="254" name="Type"/>
            <p:cNvSpPr/>
            <p:nvPr/>
          </p:nvSpPr>
          <p:spPr>
            <a:xfrm>
              <a:off x="38100" y="38100"/>
              <a:ext cx="1787405" cy="127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Type</a:t>
              </a:r>
            </a:p>
          </p:txBody>
        </p:sp>
        <p:pic>
          <p:nvPicPr>
            <p:cNvPr id="253" name="Type Type" descr="Type Type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863605" cy="1346200"/>
            </a:xfrm>
            <a:prstGeom prst="rect">
              <a:avLst/>
            </a:prstGeom>
            <a:effectLst/>
          </p:spPr>
        </p:pic>
      </p:grpSp>
      <p:grpSp>
        <p:nvGrpSpPr>
          <p:cNvPr id="258" name="space_id"/>
          <p:cNvGrpSpPr/>
          <p:nvPr/>
        </p:nvGrpSpPr>
        <p:grpSpPr>
          <a:xfrm>
            <a:off x="16539818" y="7930896"/>
            <a:ext cx="2004934" cy="1346201"/>
            <a:chOff x="0" y="0"/>
            <a:chExt cx="2004933" cy="1346200"/>
          </a:xfrm>
        </p:grpSpPr>
        <p:sp>
          <p:nvSpPr>
            <p:cNvPr id="257" name="space_id"/>
            <p:cNvSpPr/>
            <p:nvPr/>
          </p:nvSpPr>
          <p:spPr>
            <a:xfrm>
              <a:off x="38100" y="38100"/>
              <a:ext cx="1928734" cy="127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space_id</a:t>
              </a:r>
            </a:p>
          </p:txBody>
        </p:sp>
        <p:pic>
          <p:nvPicPr>
            <p:cNvPr id="256" name="space_id space_id" descr="space_id space_id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2004934" cy="1346200"/>
            </a:xfrm>
            <a:prstGeom prst="rect">
              <a:avLst/>
            </a:prstGeom>
            <a:effectLst/>
          </p:spPr>
        </p:pic>
      </p:grpSp>
      <p:grpSp>
        <p:nvGrpSpPr>
          <p:cNvPr id="261" name="page_no"/>
          <p:cNvGrpSpPr/>
          <p:nvPr/>
        </p:nvGrpSpPr>
        <p:grpSpPr>
          <a:xfrm>
            <a:off x="18493078" y="7933168"/>
            <a:ext cx="2004935" cy="1346201"/>
            <a:chOff x="0" y="0"/>
            <a:chExt cx="2004933" cy="1346200"/>
          </a:xfrm>
        </p:grpSpPr>
        <p:sp>
          <p:nvSpPr>
            <p:cNvPr id="260" name="page_no"/>
            <p:cNvSpPr/>
            <p:nvPr/>
          </p:nvSpPr>
          <p:spPr>
            <a:xfrm>
              <a:off x="38099" y="38100"/>
              <a:ext cx="1928735" cy="127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page_no</a:t>
              </a:r>
            </a:p>
          </p:txBody>
        </p:sp>
        <p:pic>
          <p:nvPicPr>
            <p:cNvPr id="259" name="page_no page_no" descr="page_no page_no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1" y="0"/>
              <a:ext cx="2004935" cy="1346200"/>
            </a:xfrm>
            <a:prstGeom prst="rect">
              <a:avLst/>
            </a:prstGeom>
            <a:effectLst/>
          </p:spPr>
        </p:pic>
      </p:grpSp>
      <p:grpSp>
        <p:nvGrpSpPr>
          <p:cNvPr id="264" name="Body"/>
          <p:cNvGrpSpPr/>
          <p:nvPr/>
        </p:nvGrpSpPr>
        <p:grpSpPr>
          <a:xfrm>
            <a:off x="20436419" y="7928624"/>
            <a:ext cx="1863606" cy="1346201"/>
            <a:chOff x="0" y="0"/>
            <a:chExt cx="1863604" cy="1346200"/>
          </a:xfrm>
        </p:grpSpPr>
        <p:sp>
          <p:nvSpPr>
            <p:cNvPr id="263" name="Body"/>
            <p:cNvSpPr/>
            <p:nvPr/>
          </p:nvSpPr>
          <p:spPr>
            <a:xfrm>
              <a:off x="38100" y="38100"/>
              <a:ext cx="1787405" cy="127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Body</a:t>
              </a:r>
            </a:p>
          </p:txBody>
        </p:sp>
        <p:pic>
          <p:nvPicPr>
            <p:cNvPr id="262" name="Body Body" descr="Body Body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863605" cy="1346200"/>
            </a:xfrm>
            <a:prstGeom prst="rect">
              <a:avLst/>
            </a:prstGeom>
            <a:effectLst/>
          </p:spPr>
        </p:pic>
      </p:grpSp>
      <p:sp>
        <p:nvSpPr>
          <p:cNvPr id="265" name="Log Record"/>
          <p:cNvSpPr txBox="1"/>
          <p:nvPr/>
        </p:nvSpPr>
        <p:spPr>
          <a:xfrm>
            <a:off x="14778468" y="7249607"/>
            <a:ext cx="1706272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Log Record</a:t>
            </a:r>
          </a:p>
        </p:txBody>
      </p:sp>
      <p:sp>
        <p:nvSpPr>
          <p:cNvPr id="266" name="线条"/>
          <p:cNvSpPr/>
          <p:nvPr/>
        </p:nvSpPr>
        <p:spPr>
          <a:xfrm>
            <a:off x="17549015" y="6316569"/>
            <a:ext cx="1" cy="1501545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67" name="Parse"/>
          <p:cNvSpPr txBox="1"/>
          <p:nvPr/>
        </p:nvSpPr>
        <p:spPr>
          <a:xfrm>
            <a:off x="16512573" y="6836658"/>
            <a:ext cx="89306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Parse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存储结构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45738">
              <a:defRPr spc="-149" sz="7480"/>
            </a:lvl1pPr>
          </a:lstStyle>
          <a:p>
            <a:pPr/>
            <a:r>
              <a:t>存储结构</a:t>
            </a:r>
          </a:p>
        </p:txBody>
      </p:sp>
      <p:grpSp>
        <p:nvGrpSpPr>
          <p:cNvPr id="272" name="Extent 0"/>
          <p:cNvGrpSpPr/>
          <p:nvPr/>
        </p:nvGrpSpPr>
        <p:grpSpPr>
          <a:xfrm>
            <a:off x="2481782" y="6121936"/>
            <a:ext cx="1851324" cy="763402"/>
            <a:chOff x="0" y="0"/>
            <a:chExt cx="1851322" cy="763401"/>
          </a:xfrm>
        </p:grpSpPr>
        <p:sp>
          <p:nvSpPr>
            <p:cNvPr id="271" name="Extent 0"/>
            <p:cNvSpPr/>
            <p:nvPr/>
          </p:nvSpPr>
          <p:spPr>
            <a:xfrm>
              <a:off x="38100" y="38100"/>
              <a:ext cx="1775123" cy="687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Extent 0</a:t>
              </a:r>
            </a:p>
          </p:txBody>
        </p:sp>
        <p:pic>
          <p:nvPicPr>
            <p:cNvPr id="270" name="Extent 0 Extent 0" descr="Extent 0 Extent 0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851323" cy="763402"/>
            </a:xfrm>
            <a:prstGeom prst="rect">
              <a:avLst/>
            </a:prstGeom>
            <a:effectLst/>
          </p:spPr>
        </p:pic>
      </p:grpSp>
      <p:grpSp>
        <p:nvGrpSpPr>
          <p:cNvPr id="275" name="Extent 1"/>
          <p:cNvGrpSpPr/>
          <p:nvPr/>
        </p:nvGrpSpPr>
        <p:grpSpPr>
          <a:xfrm>
            <a:off x="2481782" y="6830662"/>
            <a:ext cx="1851324" cy="763402"/>
            <a:chOff x="0" y="0"/>
            <a:chExt cx="1851322" cy="763401"/>
          </a:xfrm>
        </p:grpSpPr>
        <p:sp>
          <p:nvSpPr>
            <p:cNvPr id="274" name="Extent 1"/>
            <p:cNvSpPr/>
            <p:nvPr/>
          </p:nvSpPr>
          <p:spPr>
            <a:xfrm>
              <a:off x="38100" y="38100"/>
              <a:ext cx="1775123" cy="687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Extent 1</a:t>
              </a:r>
            </a:p>
          </p:txBody>
        </p:sp>
        <p:pic>
          <p:nvPicPr>
            <p:cNvPr id="273" name="Extent 1 Extent 1" descr="Extent 1 Extent 1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851323" cy="763402"/>
            </a:xfrm>
            <a:prstGeom prst="rect">
              <a:avLst/>
            </a:prstGeom>
            <a:effectLst/>
          </p:spPr>
        </p:pic>
      </p:grpSp>
      <p:grpSp>
        <p:nvGrpSpPr>
          <p:cNvPr id="278" name="…"/>
          <p:cNvGrpSpPr/>
          <p:nvPr/>
        </p:nvGrpSpPr>
        <p:grpSpPr>
          <a:xfrm>
            <a:off x="2481782" y="7507069"/>
            <a:ext cx="1851324" cy="763402"/>
            <a:chOff x="0" y="0"/>
            <a:chExt cx="1851322" cy="763401"/>
          </a:xfrm>
        </p:grpSpPr>
        <p:sp>
          <p:nvSpPr>
            <p:cNvPr id="277" name="…"/>
            <p:cNvSpPr/>
            <p:nvPr/>
          </p:nvSpPr>
          <p:spPr>
            <a:xfrm>
              <a:off x="38100" y="38100"/>
              <a:ext cx="1775123" cy="687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…</a:t>
              </a:r>
            </a:p>
          </p:txBody>
        </p:sp>
        <p:pic>
          <p:nvPicPr>
            <p:cNvPr id="276" name="… …" descr="… …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851323" cy="763402"/>
            </a:xfrm>
            <a:prstGeom prst="rect">
              <a:avLst/>
            </a:prstGeom>
            <a:effectLst/>
          </p:spPr>
        </p:pic>
      </p:grpSp>
      <p:sp>
        <p:nvSpPr>
          <p:cNvPr id="279" name="Table space"/>
          <p:cNvSpPr txBox="1"/>
          <p:nvPr/>
        </p:nvSpPr>
        <p:spPr>
          <a:xfrm>
            <a:off x="2544721" y="5349752"/>
            <a:ext cx="1740104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Table space</a:t>
            </a:r>
          </a:p>
        </p:txBody>
      </p:sp>
      <p:pic>
        <p:nvPicPr>
          <p:cNvPr id="280" name="矩形 矩形" descr="矩形 矩形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114923" y="3767525"/>
            <a:ext cx="5404547" cy="3743902"/>
          </a:xfrm>
          <a:prstGeom prst="rect">
            <a:avLst/>
          </a:prstGeom>
        </p:spPr>
      </p:pic>
      <p:grpSp>
        <p:nvGrpSpPr>
          <p:cNvPr id="284" name="Extent 0"/>
          <p:cNvGrpSpPr/>
          <p:nvPr/>
        </p:nvGrpSpPr>
        <p:grpSpPr>
          <a:xfrm>
            <a:off x="11221553" y="4473083"/>
            <a:ext cx="1851324" cy="763402"/>
            <a:chOff x="0" y="0"/>
            <a:chExt cx="1851322" cy="763401"/>
          </a:xfrm>
        </p:grpSpPr>
        <p:sp>
          <p:nvSpPr>
            <p:cNvPr id="283" name="Extent 0"/>
            <p:cNvSpPr/>
            <p:nvPr/>
          </p:nvSpPr>
          <p:spPr>
            <a:xfrm>
              <a:off x="38100" y="38100"/>
              <a:ext cx="1775123" cy="687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Extent 0</a:t>
              </a:r>
            </a:p>
          </p:txBody>
        </p:sp>
        <p:pic>
          <p:nvPicPr>
            <p:cNvPr id="282" name="Extent 0 Extent 0" descr="Extent 0 Extent 0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851323" cy="763402"/>
            </a:xfrm>
            <a:prstGeom prst="rect">
              <a:avLst/>
            </a:prstGeom>
            <a:effectLst/>
          </p:spPr>
        </p:pic>
      </p:grpSp>
      <p:grpSp>
        <p:nvGrpSpPr>
          <p:cNvPr id="287" name="Free"/>
          <p:cNvGrpSpPr/>
          <p:nvPr/>
        </p:nvGrpSpPr>
        <p:grpSpPr>
          <a:xfrm>
            <a:off x="11221553" y="5181808"/>
            <a:ext cx="1851324" cy="763403"/>
            <a:chOff x="0" y="0"/>
            <a:chExt cx="1851322" cy="763401"/>
          </a:xfrm>
        </p:grpSpPr>
        <p:sp>
          <p:nvSpPr>
            <p:cNvPr id="286" name="Free"/>
            <p:cNvSpPr/>
            <p:nvPr/>
          </p:nvSpPr>
          <p:spPr>
            <a:xfrm>
              <a:off x="38100" y="38100"/>
              <a:ext cx="1775123" cy="687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Free</a:t>
              </a:r>
            </a:p>
          </p:txBody>
        </p:sp>
        <p:pic>
          <p:nvPicPr>
            <p:cNvPr id="285" name="Free Free" descr="Free Free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851323" cy="763402"/>
            </a:xfrm>
            <a:prstGeom prst="rect">
              <a:avLst/>
            </a:prstGeom>
            <a:effectLst/>
          </p:spPr>
        </p:pic>
      </p:grpSp>
      <p:grpSp>
        <p:nvGrpSpPr>
          <p:cNvPr id="290" name="Extent 2"/>
          <p:cNvGrpSpPr/>
          <p:nvPr/>
        </p:nvGrpSpPr>
        <p:grpSpPr>
          <a:xfrm>
            <a:off x="11221553" y="5838502"/>
            <a:ext cx="1851324" cy="763403"/>
            <a:chOff x="0" y="0"/>
            <a:chExt cx="1851322" cy="763401"/>
          </a:xfrm>
        </p:grpSpPr>
        <p:sp>
          <p:nvSpPr>
            <p:cNvPr id="289" name="Extent 2"/>
            <p:cNvSpPr/>
            <p:nvPr/>
          </p:nvSpPr>
          <p:spPr>
            <a:xfrm>
              <a:off x="38100" y="38100"/>
              <a:ext cx="1775123" cy="687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Extent 2</a:t>
              </a:r>
            </a:p>
          </p:txBody>
        </p:sp>
        <p:pic>
          <p:nvPicPr>
            <p:cNvPr id="288" name="Extent 2 Extent 2" descr="Extent 2 Extent 2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851323" cy="763402"/>
            </a:xfrm>
            <a:prstGeom prst="rect">
              <a:avLst/>
            </a:prstGeom>
            <a:effectLst/>
          </p:spPr>
        </p:pic>
      </p:grpSp>
      <p:grpSp>
        <p:nvGrpSpPr>
          <p:cNvPr id="293" name="…"/>
          <p:cNvGrpSpPr/>
          <p:nvPr/>
        </p:nvGrpSpPr>
        <p:grpSpPr>
          <a:xfrm>
            <a:off x="11221553" y="6534623"/>
            <a:ext cx="1851324" cy="763402"/>
            <a:chOff x="0" y="0"/>
            <a:chExt cx="1851322" cy="763401"/>
          </a:xfrm>
        </p:grpSpPr>
        <p:sp>
          <p:nvSpPr>
            <p:cNvPr id="292" name="…"/>
            <p:cNvSpPr/>
            <p:nvPr/>
          </p:nvSpPr>
          <p:spPr>
            <a:xfrm>
              <a:off x="38100" y="38100"/>
              <a:ext cx="1775123" cy="687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…</a:t>
              </a:r>
            </a:p>
          </p:txBody>
        </p:sp>
        <p:pic>
          <p:nvPicPr>
            <p:cNvPr id="291" name="… …" descr="… …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851323" cy="763402"/>
            </a:xfrm>
            <a:prstGeom prst="rect">
              <a:avLst/>
            </a:prstGeom>
            <a:effectLst/>
          </p:spPr>
        </p:pic>
      </p:grpSp>
      <p:sp>
        <p:nvSpPr>
          <p:cNvPr id="294" name="PageServer 1"/>
          <p:cNvSpPr txBox="1"/>
          <p:nvPr/>
        </p:nvSpPr>
        <p:spPr>
          <a:xfrm>
            <a:off x="12676168" y="2917490"/>
            <a:ext cx="1948587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PageServer 1</a:t>
            </a:r>
          </a:p>
        </p:txBody>
      </p:sp>
      <p:grpSp>
        <p:nvGrpSpPr>
          <p:cNvPr id="297" name="Extent 0"/>
          <p:cNvGrpSpPr/>
          <p:nvPr/>
        </p:nvGrpSpPr>
        <p:grpSpPr>
          <a:xfrm>
            <a:off x="13387320" y="4473130"/>
            <a:ext cx="1851324" cy="763402"/>
            <a:chOff x="0" y="0"/>
            <a:chExt cx="1851322" cy="763401"/>
          </a:xfrm>
        </p:grpSpPr>
        <p:sp>
          <p:nvSpPr>
            <p:cNvPr id="296" name="Extent 0"/>
            <p:cNvSpPr/>
            <p:nvPr/>
          </p:nvSpPr>
          <p:spPr>
            <a:xfrm>
              <a:off x="38100" y="38100"/>
              <a:ext cx="1775123" cy="687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Extent 0</a:t>
              </a:r>
            </a:p>
          </p:txBody>
        </p:sp>
        <p:pic>
          <p:nvPicPr>
            <p:cNvPr id="295" name="Extent 0 Extent 0" descr="Extent 0 Extent 0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851323" cy="763402"/>
            </a:xfrm>
            <a:prstGeom prst="rect">
              <a:avLst/>
            </a:prstGeom>
            <a:effectLst/>
          </p:spPr>
        </p:pic>
      </p:grpSp>
      <p:grpSp>
        <p:nvGrpSpPr>
          <p:cNvPr id="300" name="Extent 1"/>
          <p:cNvGrpSpPr/>
          <p:nvPr/>
        </p:nvGrpSpPr>
        <p:grpSpPr>
          <a:xfrm>
            <a:off x="13387320" y="5181856"/>
            <a:ext cx="1851324" cy="763402"/>
            <a:chOff x="0" y="0"/>
            <a:chExt cx="1851322" cy="763401"/>
          </a:xfrm>
        </p:grpSpPr>
        <p:sp>
          <p:nvSpPr>
            <p:cNvPr id="299" name="Extent 1"/>
            <p:cNvSpPr/>
            <p:nvPr/>
          </p:nvSpPr>
          <p:spPr>
            <a:xfrm>
              <a:off x="38100" y="38100"/>
              <a:ext cx="1775123" cy="687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Extent 1</a:t>
              </a:r>
            </a:p>
          </p:txBody>
        </p:sp>
        <p:pic>
          <p:nvPicPr>
            <p:cNvPr id="298" name="Extent 1 Extent 1" descr="Extent 1 Extent 1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851323" cy="763402"/>
            </a:xfrm>
            <a:prstGeom prst="rect">
              <a:avLst/>
            </a:prstGeom>
            <a:effectLst/>
          </p:spPr>
        </p:pic>
      </p:grpSp>
      <p:grpSp>
        <p:nvGrpSpPr>
          <p:cNvPr id="303" name="Free"/>
          <p:cNvGrpSpPr/>
          <p:nvPr/>
        </p:nvGrpSpPr>
        <p:grpSpPr>
          <a:xfrm>
            <a:off x="13387320" y="5838550"/>
            <a:ext cx="1851324" cy="763402"/>
            <a:chOff x="0" y="0"/>
            <a:chExt cx="1851322" cy="763401"/>
          </a:xfrm>
        </p:grpSpPr>
        <p:sp>
          <p:nvSpPr>
            <p:cNvPr id="302" name="Free"/>
            <p:cNvSpPr/>
            <p:nvPr/>
          </p:nvSpPr>
          <p:spPr>
            <a:xfrm>
              <a:off x="38100" y="38100"/>
              <a:ext cx="1775123" cy="687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Free</a:t>
              </a:r>
            </a:p>
          </p:txBody>
        </p:sp>
        <p:pic>
          <p:nvPicPr>
            <p:cNvPr id="301" name="Free Free" descr="Free Free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851323" cy="763402"/>
            </a:xfrm>
            <a:prstGeom prst="rect">
              <a:avLst/>
            </a:prstGeom>
            <a:effectLst/>
          </p:spPr>
        </p:pic>
      </p:grpSp>
      <p:grpSp>
        <p:nvGrpSpPr>
          <p:cNvPr id="306" name="…"/>
          <p:cNvGrpSpPr/>
          <p:nvPr/>
        </p:nvGrpSpPr>
        <p:grpSpPr>
          <a:xfrm>
            <a:off x="13387320" y="6534670"/>
            <a:ext cx="1851324" cy="763403"/>
            <a:chOff x="0" y="0"/>
            <a:chExt cx="1851322" cy="763401"/>
          </a:xfrm>
        </p:grpSpPr>
        <p:sp>
          <p:nvSpPr>
            <p:cNvPr id="305" name="…"/>
            <p:cNvSpPr/>
            <p:nvPr/>
          </p:nvSpPr>
          <p:spPr>
            <a:xfrm>
              <a:off x="38100" y="38100"/>
              <a:ext cx="1775123" cy="687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…</a:t>
              </a:r>
            </a:p>
          </p:txBody>
        </p:sp>
        <p:pic>
          <p:nvPicPr>
            <p:cNvPr id="304" name="… …" descr="… …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851323" cy="763402"/>
            </a:xfrm>
            <a:prstGeom prst="rect">
              <a:avLst/>
            </a:prstGeom>
            <a:effectLst/>
          </p:spPr>
        </p:pic>
      </p:grpSp>
      <p:sp>
        <p:nvSpPr>
          <p:cNvPr id="307" name="segment 0"/>
          <p:cNvSpPr txBox="1"/>
          <p:nvPr/>
        </p:nvSpPr>
        <p:spPr>
          <a:xfrm>
            <a:off x="11372870" y="3828899"/>
            <a:ext cx="1548690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rPr>
                <a:solidFill>
                  <a:srgbClr val="000000"/>
                </a:solidFill>
              </a:rPr>
              <a:t>segment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308" name="segment 2"/>
          <p:cNvSpPr txBox="1"/>
          <p:nvPr/>
        </p:nvSpPr>
        <p:spPr>
          <a:xfrm>
            <a:off x="13538637" y="3828946"/>
            <a:ext cx="1548690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segment 2</a:t>
            </a:r>
          </a:p>
        </p:txBody>
      </p:sp>
      <p:sp>
        <p:nvSpPr>
          <p:cNvPr id="309" name="…"/>
          <p:cNvSpPr txBox="1"/>
          <p:nvPr/>
        </p:nvSpPr>
        <p:spPr>
          <a:xfrm>
            <a:off x="15682872" y="5408793"/>
            <a:ext cx="419101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…</a:t>
            </a:r>
          </a:p>
        </p:txBody>
      </p:sp>
      <p:pic>
        <p:nvPicPr>
          <p:cNvPr id="310" name="矩形 矩形" descr="矩形 矩形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114923" y="8598196"/>
            <a:ext cx="5404547" cy="3743903"/>
          </a:xfrm>
          <a:prstGeom prst="rect">
            <a:avLst/>
          </a:prstGeom>
        </p:spPr>
      </p:pic>
      <p:grpSp>
        <p:nvGrpSpPr>
          <p:cNvPr id="314" name="Extent 0"/>
          <p:cNvGrpSpPr/>
          <p:nvPr/>
        </p:nvGrpSpPr>
        <p:grpSpPr>
          <a:xfrm>
            <a:off x="11221554" y="9303755"/>
            <a:ext cx="1851324" cy="763402"/>
            <a:chOff x="0" y="0"/>
            <a:chExt cx="1851322" cy="763401"/>
          </a:xfrm>
        </p:grpSpPr>
        <p:sp>
          <p:nvSpPr>
            <p:cNvPr id="313" name="Extent 0"/>
            <p:cNvSpPr/>
            <p:nvPr/>
          </p:nvSpPr>
          <p:spPr>
            <a:xfrm>
              <a:off x="38100" y="38100"/>
              <a:ext cx="1775123" cy="687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Extent 0</a:t>
              </a:r>
            </a:p>
          </p:txBody>
        </p:sp>
        <p:pic>
          <p:nvPicPr>
            <p:cNvPr id="312" name="Extent 0 Extent 0" descr="Extent 0 Extent 0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851323" cy="763402"/>
            </a:xfrm>
            <a:prstGeom prst="rect">
              <a:avLst/>
            </a:prstGeom>
            <a:effectLst/>
          </p:spPr>
        </p:pic>
      </p:grpSp>
      <p:grpSp>
        <p:nvGrpSpPr>
          <p:cNvPr id="317" name="Free"/>
          <p:cNvGrpSpPr/>
          <p:nvPr/>
        </p:nvGrpSpPr>
        <p:grpSpPr>
          <a:xfrm>
            <a:off x="11221554" y="10012481"/>
            <a:ext cx="1851324" cy="763402"/>
            <a:chOff x="0" y="0"/>
            <a:chExt cx="1851322" cy="763401"/>
          </a:xfrm>
        </p:grpSpPr>
        <p:sp>
          <p:nvSpPr>
            <p:cNvPr id="316" name="Free"/>
            <p:cNvSpPr/>
            <p:nvPr/>
          </p:nvSpPr>
          <p:spPr>
            <a:xfrm>
              <a:off x="38100" y="38100"/>
              <a:ext cx="1775123" cy="687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Free</a:t>
              </a:r>
            </a:p>
          </p:txBody>
        </p:sp>
        <p:pic>
          <p:nvPicPr>
            <p:cNvPr id="315" name="Free Free" descr="Free Free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851323" cy="763402"/>
            </a:xfrm>
            <a:prstGeom prst="rect">
              <a:avLst/>
            </a:prstGeom>
            <a:effectLst/>
          </p:spPr>
        </p:pic>
      </p:grpSp>
      <p:grpSp>
        <p:nvGrpSpPr>
          <p:cNvPr id="320" name="Extent 2"/>
          <p:cNvGrpSpPr/>
          <p:nvPr/>
        </p:nvGrpSpPr>
        <p:grpSpPr>
          <a:xfrm>
            <a:off x="11221554" y="10669175"/>
            <a:ext cx="1851324" cy="763402"/>
            <a:chOff x="0" y="0"/>
            <a:chExt cx="1851322" cy="763401"/>
          </a:xfrm>
        </p:grpSpPr>
        <p:sp>
          <p:nvSpPr>
            <p:cNvPr id="319" name="Extent 2"/>
            <p:cNvSpPr/>
            <p:nvPr/>
          </p:nvSpPr>
          <p:spPr>
            <a:xfrm>
              <a:off x="38100" y="38100"/>
              <a:ext cx="1775123" cy="687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Extent 2</a:t>
              </a:r>
            </a:p>
          </p:txBody>
        </p:sp>
        <p:pic>
          <p:nvPicPr>
            <p:cNvPr id="318" name="Extent 2 Extent 2" descr="Extent 2 Extent 2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851323" cy="763402"/>
            </a:xfrm>
            <a:prstGeom prst="rect">
              <a:avLst/>
            </a:prstGeom>
            <a:effectLst/>
          </p:spPr>
        </p:pic>
      </p:grpSp>
      <p:grpSp>
        <p:nvGrpSpPr>
          <p:cNvPr id="323" name="…"/>
          <p:cNvGrpSpPr/>
          <p:nvPr/>
        </p:nvGrpSpPr>
        <p:grpSpPr>
          <a:xfrm>
            <a:off x="11221554" y="11365296"/>
            <a:ext cx="1851324" cy="763402"/>
            <a:chOff x="0" y="0"/>
            <a:chExt cx="1851322" cy="763401"/>
          </a:xfrm>
        </p:grpSpPr>
        <p:sp>
          <p:nvSpPr>
            <p:cNvPr id="322" name="…"/>
            <p:cNvSpPr/>
            <p:nvPr/>
          </p:nvSpPr>
          <p:spPr>
            <a:xfrm>
              <a:off x="38100" y="38100"/>
              <a:ext cx="1775123" cy="687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…</a:t>
              </a:r>
            </a:p>
          </p:txBody>
        </p:sp>
        <p:pic>
          <p:nvPicPr>
            <p:cNvPr id="321" name="… …" descr="… …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851323" cy="763402"/>
            </a:xfrm>
            <a:prstGeom prst="rect">
              <a:avLst/>
            </a:prstGeom>
            <a:effectLst/>
          </p:spPr>
        </p:pic>
      </p:grpSp>
      <p:sp>
        <p:nvSpPr>
          <p:cNvPr id="324" name="PageServer 2"/>
          <p:cNvSpPr txBox="1"/>
          <p:nvPr/>
        </p:nvSpPr>
        <p:spPr>
          <a:xfrm>
            <a:off x="12676168" y="7748162"/>
            <a:ext cx="1948587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PageServer 2</a:t>
            </a:r>
          </a:p>
        </p:txBody>
      </p:sp>
      <p:grpSp>
        <p:nvGrpSpPr>
          <p:cNvPr id="327" name="Extent 0"/>
          <p:cNvGrpSpPr/>
          <p:nvPr/>
        </p:nvGrpSpPr>
        <p:grpSpPr>
          <a:xfrm>
            <a:off x="13387320" y="9303802"/>
            <a:ext cx="1851324" cy="763402"/>
            <a:chOff x="0" y="0"/>
            <a:chExt cx="1851322" cy="763401"/>
          </a:xfrm>
        </p:grpSpPr>
        <p:sp>
          <p:nvSpPr>
            <p:cNvPr id="326" name="Extent 0"/>
            <p:cNvSpPr/>
            <p:nvPr/>
          </p:nvSpPr>
          <p:spPr>
            <a:xfrm>
              <a:off x="38100" y="38100"/>
              <a:ext cx="1775123" cy="687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Extent 0</a:t>
              </a:r>
            </a:p>
          </p:txBody>
        </p:sp>
        <p:pic>
          <p:nvPicPr>
            <p:cNvPr id="325" name="Extent 0 Extent 0" descr="Extent 0 Extent 0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851323" cy="763402"/>
            </a:xfrm>
            <a:prstGeom prst="rect">
              <a:avLst/>
            </a:prstGeom>
            <a:effectLst/>
          </p:spPr>
        </p:pic>
      </p:grpSp>
      <p:grpSp>
        <p:nvGrpSpPr>
          <p:cNvPr id="330" name="Extent 1"/>
          <p:cNvGrpSpPr/>
          <p:nvPr/>
        </p:nvGrpSpPr>
        <p:grpSpPr>
          <a:xfrm>
            <a:off x="13387320" y="10012528"/>
            <a:ext cx="1851324" cy="763402"/>
            <a:chOff x="0" y="0"/>
            <a:chExt cx="1851322" cy="763401"/>
          </a:xfrm>
        </p:grpSpPr>
        <p:sp>
          <p:nvSpPr>
            <p:cNvPr id="329" name="Extent 1"/>
            <p:cNvSpPr/>
            <p:nvPr/>
          </p:nvSpPr>
          <p:spPr>
            <a:xfrm>
              <a:off x="38100" y="38100"/>
              <a:ext cx="1775123" cy="687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Extent 1</a:t>
              </a:r>
            </a:p>
          </p:txBody>
        </p:sp>
        <p:pic>
          <p:nvPicPr>
            <p:cNvPr id="328" name="Extent 1 Extent 1" descr="Extent 1 Extent 1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851323" cy="763402"/>
            </a:xfrm>
            <a:prstGeom prst="rect">
              <a:avLst/>
            </a:prstGeom>
            <a:effectLst/>
          </p:spPr>
        </p:pic>
      </p:grpSp>
      <p:grpSp>
        <p:nvGrpSpPr>
          <p:cNvPr id="333" name="Free"/>
          <p:cNvGrpSpPr/>
          <p:nvPr/>
        </p:nvGrpSpPr>
        <p:grpSpPr>
          <a:xfrm>
            <a:off x="13387320" y="10669222"/>
            <a:ext cx="1851324" cy="763402"/>
            <a:chOff x="0" y="0"/>
            <a:chExt cx="1851322" cy="763401"/>
          </a:xfrm>
        </p:grpSpPr>
        <p:sp>
          <p:nvSpPr>
            <p:cNvPr id="332" name="Free"/>
            <p:cNvSpPr/>
            <p:nvPr/>
          </p:nvSpPr>
          <p:spPr>
            <a:xfrm>
              <a:off x="38100" y="38100"/>
              <a:ext cx="1775123" cy="687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Free</a:t>
              </a:r>
            </a:p>
          </p:txBody>
        </p:sp>
        <p:pic>
          <p:nvPicPr>
            <p:cNvPr id="331" name="Free Free" descr="Free Free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851323" cy="763402"/>
            </a:xfrm>
            <a:prstGeom prst="rect">
              <a:avLst/>
            </a:prstGeom>
            <a:effectLst/>
          </p:spPr>
        </p:pic>
      </p:grpSp>
      <p:grpSp>
        <p:nvGrpSpPr>
          <p:cNvPr id="336" name="…"/>
          <p:cNvGrpSpPr/>
          <p:nvPr/>
        </p:nvGrpSpPr>
        <p:grpSpPr>
          <a:xfrm>
            <a:off x="13387320" y="11365343"/>
            <a:ext cx="1851324" cy="763402"/>
            <a:chOff x="0" y="0"/>
            <a:chExt cx="1851322" cy="763401"/>
          </a:xfrm>
        </p:grpSpPr>
        <p:sp>
          <p:nvSpPr>
            <p:cNvPr id="335" name="…"/>
            <p:cNvSpPr/>
            <p:nvPr/>
          </p:nvSpPr>
          <p:spPr>
            <a:xfrm>
              <a:off x="38100" y="38100"/>
              <a:ext cx="1775123" cy="687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…</a:t>
              </a:r>
            </a:p>
          </p:txBody>
        </p:sp>
        <p:pic>
          <p:nvPicPr>
            <p:cNvPr id="334" name="… …" descr="… …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851323" cy="763402"/>
            </a:xfrm>
            <a:prstGeom prst="rect">
              <a:avLst/>
            </a:prstGeom>
            <a:effectLst/>
          </p:spPr>
        </p:pic>
      </p:grpSp>
      <p:sp>
        <p:nvSpPr>
          <p:cNvPr id="337" name="segment 1"/>
          <p:cNvSpPr txBox="1"/>
          <p:nvPr/>
        </p:nvSpPr>
        <p:spPr>
          <a:xfrm>
            <a:off x="11372871" y="8659571"/>
            <a:ext cx="1548690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rPr>
                <a:solidFill>
                  <a:srgbClr val="000000"/>
                </a:solidFill>
              </a:rPr>
              <a:t>segment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338" name="segment 2"/>
          <p:cNvSpPr txBox="1"/>
          <p:nvPr/>
        </p:nvSpPr>
        <p:spPr>
          <a:xfrm>
            <a:off x="13538637" y="8659618"/>
            <a:ext cx="1548690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rPr>
                <a:solidFill>
                  <a:srgbClr val="000000"/>
                </a:solidFill>
              </a:rPr>
              <a:t>segment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339" name="…"/>
          <p:cNvSpPr txBox="1"/>
          <p:nvPr/>
        </p:nvSpPr>
        <p:spPr>
          <a:xfrm>
            <a:off x="15682870" y="10239464"/>
            <a:ext cx="419101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…</a:t>
            </a:r>
          </a:p>
        </p:txBody>
      </p:sp>
      <p:sp>
        <p:nvSpPr>
          <p:cNvPr id="340" name="线条"/>
          <p:cNvSpPr/>
          <p:nvPr/>
        </p:nvSpPr>
        <p:spPr>
          <a:xfrm flipV="1">
            <a:off x="4334613" y="4864278"/>
            <a:ext cx="6832634" cy="1570568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41" name="线条"/>
          <p:cNvSpPr/>
          <p:nvPr/>
        </p:nvSpPr>
        <p:spPr>
          <a:xfrm>
            <a:off x="4288901" y="7208183"/>
            <a:ext cx="6874283" cy="232985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42" name="线条"/>
          <p:cNvSpPr/>
          <p:nvPr/>
        </p:nvSpPr>
        <p:spPr>
          <a:xfrm>
            <a:off x="15159494" y="7284836"/>
            <a:ext cx="1" cy="2032297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43" name="线条"/>
          <p:cNvSpPr/>
          <p:nvPr/>
        </p:nvSpPr>
        <p:spPr>
          <a:xfrm flipV="1">
            <a:off x="15159493" y="7284836"/>
            <a:ext cx="1" cy="2032297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44" name="线条"/>
          <p:cNvSpPr/>
          <p:nvPr/>
        </p:nvSpPr>
        <p:spPr>
          <a:xfrm flipH="1">
            <a:off x="4018997" y="7511426"/>
            <a:ext cx="1" cy="2032297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45" name="线条"/>
          <p:cNvSpPr/>
          <p:nvPr/>
        </p:nvSpPr>
        <p:spPr>
          <a:xfrm flipH="1">
            <a:off x="6799374" y="9673821"/>
            <a:ext cx="4490935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46" name="&lt;logical_id, physical_id&gt;…"/>
          <p:cNvSpPr txBox="1"/>
          <p:nvPr/>
        </p:nvSpPr>
        <p:spPr>
          <a:xfrm>
            <a:off x="3351612" y="9451023"/>
            <a:ext cx="3449118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&lt;logical_id, physical_id&gt;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psm管理</a:t>
            </a:r>
          </a:p>
        </p:txBody>
      </p:sp>
      <p:sp>
        <p:nvSpPr>
          <p:cNvPr id="347" name="Replica"/>
          <p:cNvSpPr txBox="1"/>
          <p:nvPr/>
        </p:nvSpPr>
        <p:spPr>
          <a:xfrm>
            <a:off x="15209461" y="7824128"/>
            <a:ext cx="1130200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Replica</a:t>
            </a:r>
          </a:p>
        </p:txBody>
      </p:sp>
      <p:sp>
        <p:nvSpPr>
          <p:cNvPr id="348" name="线条"/>
          <p:cNvSpPr/>
          <p:nvPr/>
        </p:nvSpPr>
        <p:spPr>
          <a:xfrm>
            <a:off x="15144052" y="4923711"/>
            <a:ext cx="2232176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grpSp>
        <p:nvGrpSpPr>
          <p:cNvPr id="351" name="page"/>
          <p:cNvGrpSpPr/>
          <p:nvPr/>
        </p:nvGrpSpPr>
        <p:grpSpPr>
          <a:xfrm>
            <a:off x="17303838" y="4099104"/>
            <a:ext cx="1548690" cy="566464"/>
            <a:chOff x="0" y="0"/>
            <a:chExt cx="1548688" cy="566462"/>
          </a:xfrm>
        </p:grpSpPr>
        <p:sp>
          <p:nvSpPr>
            <p:cNvPr id="350" name="page"/>
            <p:cNvSpPr/>
            <p:nvPr/>
          </p:nvSpPr>
          <p:spPr>
            <a:xfrm>
              <a:off x="38100" y="38100"/>
              <a:ext cx="1472489" cy="490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16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page</a:t>
              </a:r>
            </a:p>
          </p:txBody>
        </p:sp>
        <p:pic>
          <p:nvPicPr>
            <p:cNvPr id="349" name="page page" descr="page page"/>
            <p:cNvPicPr>
              <a:picLocks noChangeAspect="0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0"/>
              <a:ext cx="1548689" cy="566463"/>
            </a:xfrm>
            <a:prstGeom prst="rect">
              <a:avLst/>
            </a:prstGeom>
            <a:effectLst/>
          </p:spPr>
        </p:pic>
      </p:grpSp>
      <p:grpSp>
        <p:nvGrpSpPr>
          <p:cNvPr id="354" name="page"/>
          <p:cNvGrpSpPr/>
          <p:nvPr/>
        </p:nvGrpSpPr>
        <p:grpSpPr>
          <a:xfrm>
            <a:off x="17303838" y="4640480"/>
            <a:ext cx="1548690" cy="566464"/>
            <a:chOff x="0" y="0"/>
            <a:chExt cx="1548688" cy="566462"/>
          </a:xfrm>
        </p:grpSpPr>
        <p:sp>
          <p:nvSpPr>
            <p:cNvPr id="353" name="page"/>
            <p:cNvSpPr/>
            <p:nvPr/>
          </p:nvSpPr>
          <p:spPr>
            <a:xfrm>
              <a:off x="38100" y="38100"/>
              <a:ext cx="1472489" cy="490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16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page</a:t>
              </a:r>
            </a:p>
          </p:txBody>
        </p:sp>
        <p:pic>
          <p:nvPicPr>
            <p:cNvPr id="352" name="page page" descr="page page"/>
            <p:cNvPicPr>
              <a:picLocks noChangeAspect="0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0"/>
              <a:ext cx="1548689" cy="566463"/>
            </a:xfrm>
            <a:prstGeom prst="rect">
              <a:avLst/>
            </a:prstGeom>
            <a:effectLst/>
          </p:spPr>
        </p:pic>
      </p:grpSp>
      <p:grpSp>
        <p:nvGrpSpPr>
          <p:cNvPr id="357" name="…"/>
          <p:cNvGrpSpPr/>
          <p:nvPr/>
        </p:nvGrpSpPr>
        <p:grpSpPr>
          <a:xfrm>
            <a:off x="17303838" y="5181856"/>
            <a:ext cx="1548690" cy="566464"/>
            <a:chOff x="0" y="0"/>
            <a:chExt cx="1548688" cy="566462"/>
          </a:xfrm>
        </p:grpSpPr>
        <p:sp>
          <p:nvSpPr>
            <p:cNvPr id="356" name="…"/>
            <p:cNvSpPr/>
            <p:nvPr/>
          </p:nvSpPr>
          <p:spPr>
            <a:xfrm>
              <a:off x="38100" y="38100"/>
              <a:ext cx="1472489" cy="490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16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…</a:t>
              </a:r>
            </a:p>
          </p:txBody>
        </p:sp>
        <p:pic>
          <p:nvPicPr>
            <p:cNvPr id="355" name="… …" descr="… …"/>
            <p:cNvPicPr>
              <a:picLocks noChangeAspect="0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0"/>
              <a:ext cx="1548689" cy="566463"/>
            </a:xfrm>
            <a:prstGeom prst="rect">
              <a:avLst/>
            </a:prstGeom>
            <a:effectLst/>
          </p:spPr>
        </p:pic>
      </p:grpSp>
      <p:sp>
        <p:nvSpPr>
          <p:cNvPr id="358" name="16k"/>
          <p:cNvSpPr txBox="1"/>
          <p:nvPr/>
        </p:nvSpPr>
        <p:spPr>
          <a:xfrm>
            <a:off x="18883153" y="4099104"/>
            <a:ext cx="611429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16k</a:t>
            </a:r>
          </a:p>
        </p:txBody>
      </p:sp>
      <p:sp>
        <p:nvSpPr>
          <p:cNvPr id="359" name="1M"/>
          <p:cNvSpPr txBox="1"/>
          <p:nvPr/>
        </p:nvSpPr>
        <p:spPr>
          <a:xfrm>
            <a:off x="15292344" y="4282914"/>
            <a:ext cx="549250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1M</a:t>
            </a:r>
          </a:p>
        </p:txBody>
      </p:sp>
      <p:sp>
        <p:nvSpPr>
          <p:cNvPr id="360" name="线条"/>
          <p:cNvSpPr/>
          <p:nvPr/>
        </p:nvSpPr>
        <p:spPr>
          <a:xfrm>
            <a:off x="18858360" y="4953757"/>
            <a:ext cx="154869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grpSp>
        <p:nvGrpSpPr>
          <p:cNvPr id="363" name="Log record"/>
          <p:cNvGrpSpPr/>
          <p:nvPr/>
        </p:nvGrpSpPr>
        <p:grpSpPr>
          <a:xfrm>
            <a:off x="20549534" y="4099104"/>
            <a:ext cx="1548690" cy="566464"/>
            <a:chOff x="0" y="0"/>
            <a:chExt cx="1548688" cy="566462"/>
          </a:xfrm>
        </p:grpSpPr>
        <p:sp>
          <p:nvSpPr>
            <p:cNvPr id="362" name="Log record"/>
            <p:cNvSpPr/>
            <p:nvPr/>
          </p:nvSpPr>
          <p:spPr>
            <a:xfrm>
              <a:off x="38100" y="38100"/>
              <a:ext cx="1472489" cy="490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16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Log record</a:t>
              </a:r>
            </a:p>
          </p:txBody>
        </p:sp>
        <p:pic>
          <p:nvPicPr>
            <p:cNvPr id="361" name="Log record Log record" descr="Log record Log record"/>
            <p:cNvPicPr>
              <a:picLocks noChangeAspect="0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0"/>
              <a:ext cx="1548689" cy="566463"/>
            </a:xfrm>
            <a:prstGeom prst="rect">
              <a:avLst/>
            </a:prstGeom>
            <a:effectLst/>
          </p:spPr>
        </p:pic>
      </p:grpSp>
      <p:grpSp>
        <p:nvGrpSpPr>
          <p:cNvPr id="366" name="Log record"/>
          <p:cNvGrpSpPr/>
          <p:nvPr/>
        </p:nvGrpSpPr>
        <p:grpSpPr>
          <a:xfrm>
            <a:off x="20549534" y="4640480"/>
            <a:ext cx="1548690" cy="566464"/>
            <a:chOff x="0" y="0"/>
            <a:chExt cx="1548688" cy="566462"/>
          </a:xfrm>
        </p:grpSpPr>
        <p:sp>
          <p:nvSpPr>
            <p:cNvPr id="365" name="Log record"/>
            <p:cNvSpPr/>
            <p:nvPr/>
          </p:nvSpPr>
          <p:spPr>
            <a:xfrm>
              <a:off x="38100" y="38100"/>
              <a:ext cx="1472489" cy="490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16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Log record</a:t>
              </a:r>
            </a:p>
          </p:txBody>
        </p:sp>
        <p:pic>
          <p:nvPicPr>
            <p:cNvPr id="364" name="Log record Log record" descr="Log record Log record"/>
            <p:cNvPicPr>
              <a:picLocks noChangeAspect="0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0"/>
              <a:ext cx="1548689" cy="566463"/>
            </a:xfrm>
            <a:prstGeom prst="rect">
              <a:avLst/>
            </a:prstGeom>
            <a:effectLst/>
          </p:spPr>
        </p:pic>
      </p:grpSp>
      <p:grpSp>
        <p:nvGrpSpPr>
          <p:cNvPr id="369" name="…"/>
          <p:cNvGrpSpPr/>
          <p:nvPr/>
        </p:nvGrpSpPr>
        <p:grpSpPr>
          <a:xfrm>
            <a:off x="20549534" y="5181856"/>
            <a:ext cx="1548690" cy="566464"/>
            <a:chOff x="0" y="0"/>
            <a:chExt cx="1548688" cy="566462"/>
          </a:xfrm>
        </p:grpSpPr>
        <p:sp>
          <p:nvSpPr>
            <p:cNvPr id="368" name="…"/>
            <p:cNvSpPr/>
            <p:nvPr/>
          </p:nvSpPr>
          <p:spPr>
            <a:xfrm>
              <a:off x="38100" y="38100"/>
              <a:ext cx="1472489" cy="490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16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…</a:t>
              </a:r>
            </a:p>
          </p:txBody>
        </p:sp>
        <p:pic>
          <p:nvPicPr>
            <p:cNvPr id="367" name="… …" descr="… …"/>
            <p:cNvPicPr>
              <a:picLocks noChangeAspect="0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0"/>
              <a:ext cx="1548689" cy="566463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磁盘目录结构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45738">
              <a:defRPr spc="-149" sz="7480"/>
            </a:lvl1pPr>
          </a:lstStyle>
          <a:p>
            <a:pPr/>
            <a:r>
              <a:t>磁盘目录结构</a:t>
            </a:r>
          </a:p>
        </p:txBody>
      </p:sp>
      <p:pic>
        <p:nvPicPr>
          <p:cNvPr id="372" name="图像" descr="图像"/>
          <p:cNvPicPr>
            <a:picLocks noChangeAspect="1"/>
          </p:cNvPicPr>
          <p:nvPr/>
        </p:nvPicPr>
        <p:blipFill>
          <a:blip r:embed="rId2">
            <a:extLst/>
          </a:blip>
          <a:srcRect l="0" t="0" r="0" b="0"/>
          <a:stretch>
            <a:fillRect/>
          </a:stretch>
        </p:blipFill>
        <p:spPr>
          <a:xfrm>
            <a:off x="14863628" y="2679063"/>
            <a:ext cx="7299829" cy="9903141"/>
          </a:xfrm>
          <a:prstGeom prst="rect">
            <a:avLst/>
          </a:prstGeom>
          <a:ln w="12700">
            <a:miter lim="400000"/>
          </a:ln>
        </p:spPr>
      </p:pic>
      <p:sp>
        <p:nvSpPr>
          <p:cNvPr id="373" name="磁盘目录结构为/store_path/cluster_id/segment_id/…"/>
          <p:cNvSpPr txBox="1"/>
          <p:nvPr>
            <p:ph type="body" sz="quarter" idx="1"/>
          </p:nvPr>
        </p:nvSpPr>
        <p:spPr>
          <a:xfrm>
            <a:off x="1206499" y="4248504"/>
            <a:ext cx="12416208" cy="4997313"/>
          </a:xfrm>
          <a:prstGeom prst="rect">
            <a:avLst/>
          </a:prstGeom>
        </p:spPr>
        <p:txBody>
          <a:bodyPr/>
          <a:lstStyle/>
          <a:p>
            <a:pPr marL="591312" indent="-591312" defTabSz="2365188">
              <a:spcBef>
                <a:spcPts val="4300"/>
              </a:spcBef>
              <a:defRPr sz="4656"/>
            </a:pPr>
            <a:r>
              <a:t>磁盘目录结构为/store_path/cluster_id/segment_id/</a:t>
            </a:r>
          </a:p>
          <a:p>
            <a:pPr marL="591312" indent="-591312" defTabSz="2365188">
              <a:spcBef>
                <a:spcPts val="4300"/>
              </a:spcBef>
              <a:defRPr sz="4656"/>
            </a:pPr>
            <a:r>
              <a:t>其中data.ibd为数据文件，大小默认为32G，存储连续的extent</a:t>
            </a:r>
          </a:p>
          <a:p>
            <a:pPr marL="591312" indent="-591312" defTabSz="2365188">
              <a:spcBef>
                <a:spcPts val="4300"/>
              </a:spcBef>
              <a:defRPr sz="4656"/>
            </a:pPr>
            <a:r>
              <a:t>meta保存segment的元数据</a:t>
            </a:r>
          </a:p>
        </p:txBody>
      </p:sp>
      <p:sp>
        <p:nvSpPr>
          <p:cNvPr id="374" name="[segment]…"/>
          <p:cNvSpPr txBox="1"/>
          <p:nvPr/>
        </p:nvSpPr>
        <p:spPr>
          <a:xfrm>
            <a:off x="1872546" y="9397545"/>
            <a:ext cx="7664197" cy="3776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>
                <a:solidFill>
                  <a:srgbClr val="000000"/>
                </a:solidFill>
              </a:defRPr>
            </a:pPr>
            <a:r>
              <a:t>[segment]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brief=cluster_id/segment_id@replica_id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cluster_id=gaiadbxxxxxxx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manager_address=bns://gaiadxxxxx-0000.gaia.all:8680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meta_version=2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replica_id=2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segment_id=131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segment_size=34359738368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status=Open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version=1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Rbi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Rbio</a:t>
            </a:r>
          </a:p>
        </p:txBody>
      </p:sp>
      <p:sp>
        <p:nvSpPr>
          <p:cNvPr id="377" name="计算节点发生缺页时向page server发起rbio请求，可能请求多个页。…"/>
          <p:cNvSpPr txBox="1"/>
          <p:nvPr>
            <p:ph type="body" sz="half" idx="1"/>
          </p:nvPr>
        </p:nvSpPr>
        <p:spPr>
          <a:xfrm>
            <a:off x="1206500" y="4248504"/>
            <a:ext cx="10992948" cy="8256012"/>
          </a:xfrm>
          <a:prstGeom prst="rect">
            <a:avLst/>
          </a:prstGeom>
        </p:spPr>
        <p:txBody>
          <a:bodyPr/>
          <a:lstStyle/>
          <a:p>
            <a:pPr marL="469391" indent="-469391" defTabSz="1877520">
              <a:spcBef>
                <a:spcPts val="3400"/>
              </a:spcBef>
              <a:defRPr sz="3696"/>
            </a:pPr>
            <a:r>
              <a:t>计算节点发生缺页时向page server发起rbio请求，可能请求多个页。</a:t>
            </a:r>
          </a:p>
          <a:p>
            <a:pPr marL="469391" indent="-469391" defTabSz="1877520">
              <a:spcBef>
                <a:spcPts val="3400"/>
              </a:spcBef>
              <a:defRPr sz="3696"/>
            </a:pPr>
            <a:r>
              <a:t>首先判断计算节点请求rbio的vlsn(primary使用vdl, secondary使用回放水位）和当前parser_lsn，如果需要等待page server推进lsn，则先等待</a:t>
            </a:r>
          </a:p>
          <a:p>
            <a:pPr marL="469391" indent="-469391" defTabSz="1877520">
              <a:spcBef>
                <a:spcPts val="3400"/>
              </a:spcBef>
              <a:defRPr sz="3696"/>
            </a:pPr>
            <a:r>
              <a:t>根据请求的physical_extent_id以及logical_page_no获取physical_offset。也可以通过logical_page_no获取logical_extent_id，而后去psm拉取对应的physical_extent_id</a:t>
            </a:r>
          </a:p>
          <a:p>
            <a:pPr marL="469391" indent="-469391" defTabSz="1877520">
              <a:spcBef>
                <a:spcPts val="3400"/>
              </a:spcBef>
              <a:defRPr sz="3696"/>
            </a:pPr>
            <a:r>
              <a:t>读取磁盘上的存量page数据，而后将内存中的增量page数据应用到存量page中，返回给计算节点</a:t>
            </a:r>
          </a:p>
        </p:txBody>
      </p:sp>
      <p:grpSp>
        <p:nvGrpSpPr>
          <p:cNvPr id="380" name="page"/>
          <p:cNvGrpSpPr/>
          <p:nvPr/>
        </p:nvGrpSpPr>
        <p:grpSpPr>
          <a:xfrm>
            <a:off x="15025413" y="4253963"/>
            <a:ext cx="1346201" cy="1346201"/>
            <a:chOff x="0" y="0"/>
            <a:chExt cx="1346200" cy="1346200"/>
          </a:xfrm>
        </p:grpSpPr>
        <p:sp>
          <p:nvSpPr>
            <p:cNvPr id="379" name="page"/>
            <p:cNvSpPr/>
            <p:nvPr/>
          </p:nvSpPr>
          <p:spPr>
            <a:xfrm>
              <a:off x="38100" y="38100"/>
              <a:ext cx="1270000" cy="127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page</a:t>
              </a:r>
            </a:p>
          </p:txBody>
        </p:sp>
        <p:pic>
          <p:nvPicPr>
            <p:cNvPr id="378" name="page page" descr="page page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346200" cy="1346200"/>
            </a:xfrm>
            <a:prstGeom prst="rect">
              <a:avLst/>
            </a:prstGeom>
            <a:effectLst/>
          </p:spPr>
        </p:pic>
      </p:grpSp>
      <p:grpSp>
        <p:nvGrpSpPr>
          <p:cNvPr id="383" name="Store"/>
          <p:cNvGrpSpPr/>
          <p:nvPr/>
        </p:nvGrpSpPr>
        <p:grpSpPr>
          <a:xfrm>
            <a:off x="15006981" y="2189118"/>
            <a:ext cx="1346201" cy="1346201"/>
            <a:chOff x="0" y="0"/>
            <a:chExt cx="1346200" cy="1346200"/>
          </a:xfrm>
        </p:grpSpPr>
        <p:sp>
          <p:nvSpPr>
            <p:cNvPr id="382" name="Store"/>
            <p:cNvSpPr/>
            <p:nvPr/>
          </p:nvSpPr>
          <p:spPr>
            <a:xfrm>
              <a:off x="38100" y="38100"/>
              <a:ext cx="1270000" cy="127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Store</a:t>
              </a:r>
            </a:p>
          </p:txBody>
        </p:sp>
        <p:pic>
          <p:nvPicPr>
            <p:cNvPr id="381" name="Store Store" descr="Store Store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346200" cy="1346200"/>
            </a:xfrm>
            <a:prstGeom prst="rect">
              <a:avLst/>
            </a:prstGeom>
            <a:effectLst/>
          </p:spPr>
        </p:pic>
      </p:grpSp>
      <p:sp>
        <p:nvSpPr>
          <p:cNvPr id="384" name="线条"/>
          <p:cNvSpPr/>
          <p:nvPr/>
        </p:nvSpPr>
        <p:spPr>
          <a:xfrm>
            <a:off x="15692831" y="3476157"/>
            <a:ext cx="1" cy="836968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grpSp>
        <p:nvGrpSpPr>
          <p:cNvPr id="387" name="page"/>
          <p:cNvGrpSpPr/>
          <p:nvPr/>
        </p:nvGrpSpPr>
        <p:grpSpPr>
          <a:xfrm>
            <a:off x="17964086" y="4267850"/>
            <a:ext cx="1346201" cy="1346201"/>
            <a:chOff x="0" y="0"/>
            <a:chExt cx="1346200" cy="1346200"/>
          </a:xfrm>
        </p:grpSpPr>
        <p:sp>
          <p:nvSpPr>
            <p:cNvPr id="386" name="page"/>
            <p:cNvSpPr/>
            <p:nvPr/>
          </p:nvSpPr>
          <p:spPr>
            <a:xfrm>
              <a:off x="38100" y="38100"/>
              <a:ext cx="1270000" cy="127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page</a:t>
              </a:r>
            </a:p>
          </p:txBody>
        </p:sp>
        <p:pic>
          <p:nvPicPr>
            <p:cNvPr id="385" name="page page" descr="page page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346200" cy="1346200"/>
            </a:xfrm>
            <a:prstGeom prst="rect">
              <a:avLst/>
            </a:prstGeom>
            <a:effectLst/>
          </p:spPr>
        </p:pic>
      </p:grpSp>
      <p:grpSp>
        <p:nvGrpSpPr>
          <p:cNvPr id="390" name="Space…"/>
          <p:cNvGrpSpPr/>
          <p:nvPr/>
        </p:nvGrpSpPr>
        <p:grpSpPr>
          <a:xfrm>
            <a:off x="17672214" y="2203005"/>
            <a:ext cx="1952165" cy="1346201"/>
            <a:chOff x="0" y="0"/>
            <a:chExt cx="1952164" cy="1346200"/>
          </a:xfrm>
        </p:grpSpPr>
        <p:sp>
          <p:nvSpPr>
            <p:cNvPr id="389" name="Space…"/>
            <p:cNvSpPr/>
            <p:nvPr/>
          </p:nvSpPr>
          <p:spPr>
            <a:xfrm>
              <a:off x="38100" y="38100"/>
              <a:ext cx="1875965" cy="127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r>
                <a:t>Space</a:t>
              </a:r>
            </a:p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r>
                <a:t>Manager</a:t>
              </a:r>
            </a:p>
          </p:txBody>
        </p:sp>
        <p:pic>
          <p:nvPicPr>
            <p:cNvPr id="388" name="Space… SpaceManager" descr="Space… SpaceManager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1952165" cy="1346200"/>
            </a:xfrm>
            <a:prstGeom prst="rect">
              <a:avLst/>
            </a:prstGeom>
            <a:effectLst/>
          </p:spPr>
        </p:pic>
      </p:grpSp>
      <p:sp>
        <p:nvSpPr>
          <p:cNvPr id="391" name="线条"/>
          <p:cNvSpPr/>
          <p:nvPr/>
        </p:nvSpPr>
        <p:spPr>
          <a:xfrm>
            <a:off x="18631506" y="3490044"/>
            <a:ext cx="1" cy="836967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92" name="线条"/>
          <p:cNvSpPr/>
          <p:nvPr/>
        </p:nvSpPr>
        <p:spPr>
          <a:xfrm>
            <a:off x="15679939" y="5600946"/>
            <a:ext cx="1582362" cy="1006952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93" name="线条"/>
          <p:cNvSpPr/>
          <p:nvPr/>
        </p:nvSpPr>
        <p:spPr>
          <a:xfrm flipH="1">
            <a:off x="17179448" y="5566355"/>
            <a:ext cx="1487643" cy="1055556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grpSp>
        <p:nvGrpSpPr>
          <p:cNvPr id="396" name="page"/>
          <p:cNvGrpSpPr/>
          <p:nvPr/>
        </p:nvGrpSpPr>
        <p:grpSpPr>
          <a:xfrm>
            <a:off x="16636772" y="6560162"/>
            <a:ext cx="1346201" cy="1346201"/>
            <a:chOff x="0" y="0"/>
            <a:chExt cx="1346200" cy="1346200"/>
          </a:xfrm>
        </p:grpSpPr>
        <p:sp>
          <p:nvSpPr>
            <p:cNvPr id="395" name="page"/>
            <p:cNvSpPr/>
            <p:nvPr/>
          </p:nvSpPr>
          <p:spPr>
            <a:xfrm>
              <a:off x="38100" y="38100"/>
              <a:ext cx="1270000" cy="127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page</a:t>
              </a:r>
            </a:p>
          </p:txBody>
        </p:sp>
        <p:pic>
          <p:nvPicPr>
            <p:cNvPr id="394" name="page page" descr="page page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346200" cy="1346200"/>
            </a:xfrm>
            <a:prstGeom prst="rect">
              <a:avLst/>
            </a:prstGeom>
            <a:effectLst/>
          </p:spPr>
        </p:pic>
      </p:grpSp>
      <p:sp>
        <p:nvSpPr>
          <p:cNvPr id="397" name="page_lsn"/>
          <p:cNvSpPr txBox="1"/>
          <p:nvPr/>
        </p:nvSpPr>
        <p:spPr>
          <a:xfrm>
            <a:off x="13623030" y="4647903"/>
            <a:ext cx="133929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page_lsn</a:t>
            </a:r>
          </a:p>
        </p:txBody>
      </p:sp>
      <p:sp>
        <p:nvSpPr>
          <p:cNvPr id="398" name="mem_min_lsn…"/>
          <p:cNvSpPr txBox="1"/>
          <p:nvPr/>
        </p:nvSpPr>
        <p:spPr>
          <a:xfrm>
            <a:off x="19700933" y="4574594"/>
            <a:ext cx="2073860" cy="829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mem_min_lsn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mem_max_lsn</a:t>
            </a:r>
          </a:p>
        </p:txBody>
      </p:sp>
      <p:sp>
        <p:nvSpPr>
          <p:cNvPr id="399" name="线条"/>
          <p:cNvSpPr/>
          <p:nvPr/>
        </p:nvSpPr>
        <p:spPr>
          <a:xfrm>
            <a:off x="13785932" y="9134116"/>
            <a:ext cx="667758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00" name="vlsn"/>
          <p:cNvSpPr txBox="1"/>
          <p:nvPr/>
        </p:nvSpPr>
        <p:spPr>
          <a:xfrm>
            <a:off x="16933278" y="8387537"/>
            <a:ext cx="656236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vlsn</a:t>
            </a:r>
          </a:p>
        </p:txBody>
      </p:sp>
      <p:sp>
        <p:nvSpPr>
          <p:cNvPr id="401" name="线条"/>
          <p:cNvSpPr/>
          <p:nvPr/>
        </p:nvSpPr>
        <p:spPr>
          <a:xfrm flipV="1">
            <a:off x="15334114" y="8958305"/>
            <a:ext cx="1" cy="461366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02" name="线条"/>
          <p:cNvSpPr/>
          <p:nvPr/>
        </p:nvSpPr>
        <p:spPr>
          <a:xfrm flipV="1">
            <a:off x="17270926" y="9052986"/>
            <a:ext cx="1" cy="46136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03" name="无增量page"/>
          <p:cNvSpPr txBox="1"/>
          <p:nvPr/>
        </p:nvSpPr>
        <p:spPr>
          <a:xfrm>
            <a:off x="20837640" y="8833299"/>
            <a:ext cx="1711758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无增量page</a:t>
            </a:r>
          </a:p>
        </p:txBody>
      </p:sp>
      <p:sp>
        <p:nvSpPr>
          <p:cNvPr id="404" name="线条"/>
          <p:cNvSpPr/>
          <p:nvPr/>
        </p:nvSpPr>
        <p:spPr>
          <a:xfrm>
            <a:off x="13785932" y="10537680"/>
            <a:ext cx="667758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05" name="page_lsn"/>
          <p:cNvSpPr txBox="1"/>
          <p:nvPr/>
        </p:nvSpPr>
        <p:spPr>
          <a:xfrm>
            <a:off x="14703412" y="9811805"/>
            <a:ext cx="133929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page_lsn</a:t>
            </a:r>
          </a:p>
        </p:txBody>
      </p:sp>
      <p:sp>
        <p:nvSpPr>
          <p:cNvPr id="406" name="vlsn"/>
          <p:cNvSpPr txBox="1"/>
          <p:nvPr/>
        </p:nvSpPr>
        <p:spPr>
          <a:xfrm>
            <a:off x="16997915" y="9825692"/>
            <a:ext cx="65623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vlsn</a:t>
            </a:r>
          </a:p>
        </p:txBody>
      </p:sp>
      <p:sp>
        <p:nvSpPr>
          <p:cNvPr id="407" name="线条"/>
          <p:cNvSpPr/>
          <p:nvPr/>
        </p:nvSpPr>
        <p:spPr>
          <a:xfrm flipV="1">
            <a:off x="15334112" y="10361869"/>
            <a:ext cx="1" cy="46136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08" name="线条"/>
          <p:cNvSpPr/>
          <p:nvPr/>
        </p:nvSpPr>
        <p:spPr>
          <a:xfrm flipV="1">
            <a:off x="17319404" y="10424233"/>
            <a:ext cx="1" cy="46136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09" name="增量page在vlsn之后"/>
          <p:cNvSpPr txBox="1"/>
          <p:nvPr/>
        </p:nvSpPr>
        <p:spPr>
          <a:xfrm>
            <a:off x="20633531" y="10236864"/>
            <a:ext cx="2863292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增量page在vlsn之后</a:t>
            </a:r>
          </a:p>
        </p:txBody>
      </p:sp>
      <p:sp>
        <p:nvSpPr>
          <p:cNvPr id="410" name="mem_min_lsn"/>
          <p:cNvSpPr txBox="1"/>
          <p:nvPr/>
        </p:nvSpPr>
        <p:spPr>
          <a:xfrm>
            <a:off x="18025744" y="9791101"/>
            <a:ext cx="1989430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mem_min_lsn</a:t>
            </a:r>
          </a:p>
        </p:txBody>
      </p:sp>
      <p:sp>
        <p:nvSpPr>
          <p:cNvPr id="411" name="线条"/>
          <p:cNvSpPr/>
          <p:nvPr/>
        </p:nvSpPr>
        <p:spPr>
          <a:xfrm flipV="1">
            <a:off x="19013830" y="10389642"/>
            <a:ext cx="1" cy="46136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12" name="线条"/>
          <p:cNvSpPr/>
          <p:nvPr/>
        </p:nvSpPr>
        <p:spPr>
          <a:xfrm>
            <a:off x="13785932" y="11961948"/>
            <a:ext cx="667758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13" name="page_lsn"/>
          <p:cNvSpPr txBox="1"/>
          <p:nvPr/>
        </p:nvSpPr>
        <p:spPr>
          <a:xfrm>
            <a:off x="14703412" y="11236073"/>
            <a:ext cx="133929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page_lsn</a:t>
            </a:r>
          </a:p>
        </p:txBody>
      </p:sp>
      <p:sp>
        <p:nvSpPr>
          <p:cNvPr id="414" name="vlsn"/>
          <p:cNvSpPr txBox="1"/>
          <p:nvPr/>
        </p:nvSpPr>
        <p:spPr>
          <a:xfrm>
            <a:off x="18654699" y="11229256"/>
            <a:ext cx="65623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vlsn</a:t>
            </a:r>
          </a:p>
        </p:txBody>
      </p:sp>
      <p:sp>
        <p:nvSpPr>
          <p:cNvPr id="415" name="线条"/>
          <p:cNvSpPr/>
          <p:nvPr/>
        </p:nvSpPr>
        <p:spPr>
          <a:xfrm flipV="1">
            <a:off x="15334112" y="11786137"/>
            <a:ext cx="1" cy="46136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16" name="线条"/>
          <p:cNvSpPr/>
          <p:nvPr/>
        </p:nvSpPr>
        <p:spPr>
          <a:xfrm flipV="1">
            <a:off x="18976188" y="11827797"/>
            <a:ext cx="1" cy="46136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17" name="增量page在vlsn之后"/>
          <p:cNvSpPr txBox="1"/>
          <p:nvPr/>
        </p:nvSpPr>
        <p:spPr>
          <a:xfrm>
            <a:off x="20633530" y="11661132"/>
            <a:ext cx="2863292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增量page在vlsn之后</a:t>
            </a:r>
          </a:p>
        </p:txBody>
      </p:sp>
      <p:sp>
        <p:nvSpPr>
          <p:cNvPr id="418" name="mem_min_lsn"/>
          <p:cNvSpPr txBox="1"/>
          <p:nvPr/>
        </p:nvSpPr>
        <p:spPr>
          <a:xfrm>
            <a:off x="16329044" y="11229256"/>
            <a:ext cx="1989431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mem_min_lsn</a:t>
            </a:r>
          </a:p>
        </p:txBody>
      </p:sp>
      <p:sp>
        <p:nvSpPr>
          <p:cNvPr id="419" name="线条"/>
          <p:cNvSpPr/>
          <p:nvPr/>
        </p:nvSpPr>
        <p:spPr>
          <a:xfrm flipV="1">
            <a:off x="17317131" y="11827797"/>
            <a:ext cx="1" cy="46136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20" name="page_lsn"/>
          <p:cNvSpPr txBox="1"/>
          <p:nvPr/>
        </p:nvSpPr>
        <p:spPr>
          <a:xfrm>
            <a:off x="14668822" y="8386944"/>
            <a:ext cx="133929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page_lsn</a:t>
            </a:r>
          </a:p>
        </p:txBody>
      </p:sp>
      <p:sp>
        <p:nvSpPr>
          <p:cNvPr id="421" name="mem_max_lsn"/>
          <p:cNvSpPr txBox="1"/>
          <p:nvPr/>
        </p:nvSpPr>
        <p:spPr>
          <a:xfrm>
            <a:off x="19604945" y="11229256"/>
            <a:ext cx="2073860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mem_max_lsn</a:t>
            </a:r>
          </a:p>
        </p:txBody>
      </p:sp>
      <p:sp>
        <p:nvSpPr>
          <p:cNvPr id="422" name="线条"/>
          <p:cNvSpPr/>
          <p:nvPr/>
        </p:nvSpPr>
        <p:spPr>
          <a:xfrm flipV="1">
            <a:off x="20088889" y="11827797"/>
            <a:ext cx="1" cy="46136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23" name="apply record"/>
          <p:cNvSpPr txBox="1"/>
          <p:nvPr/>
        </p:nvSpPr>
        <p:spPr>
          <a:xfrm>
            <a:off x="17219763" y="12206387"/>
            <a:ext cx="1819352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apply record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恢复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45738">
              <a:defRPr spc="-149" sz="7480"/>
            </a:lvl1pPr>
          </a:lstStyle>
          <a:p>
            <a:pPr/>
            <a:r>
              <a:t>恢复</a:t>
            </a:r>
          </a:p>
        </p:txBody>
      </p:sp>
      <p:sp>
        <p:nvSpPr>
          <p:cNvPr id="426" name="恢复主要是对空页或者不正确的页进行恢复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566927" indent="-566927" defTabSz="2267655">
              <a:spcBef>
                <a:spcPts val="4100"/>
              </a:spcBef>
              <a:defRPr sz="4464"/>
            </a:pPr>
            <a:r>
              <a:t>恢复主要是对空页或者不正确的页进行恢复</a:t>
            </a:r>
          </a:p>
          <a:p>
            <a:pPr marL="566927" indent="-566927" defTabSz="2267655">
              <a:spcBef>
                <a:spcPts val="4100"/>
              </a:spcBef>
              <a:defRPr sz="4464"/>
            </a:pPr>
            <a:r>
              <a:t>在page server启动时，遍历特定目录下的所有segment目录，目录名为segment_id，segment目录下存放有segment的meta文件，可以得到segment_size等相关信息</a:t>
            </a:r>
          </a:p>
          <a:p>
            <a:pPr marL="566927" indent="-566927" defTabSz="2267655">
              <a:spcBef>
                <a:spcPts val="4100"/>
              </a:spcBef>
              <a:defRPr sz="4464"/>
            </a:pPr>
            <a:r>
              <a:t>按页读取segment数据文件</a:t>
            </a:r>
          </a:p>
          <a:p>
            <a:pPr lvl="1" marL="1133855" indent="-566927" defTabSz="2267655">
              <a:spcBef>
                <a:spcPts val="4100"/>
              </a:spcBef>
              <a:defRPr sz="4464"/>
            </a:pPr>
            <a:r>
              <a:t>如果是空页或者已经损坏的页面或者space已经被删除，则从peer节点读取数据恢复页面。</a:t>
            </a:r>
          </a:p>
          <a:p>
            <a:pPr lvl="1" marL="1133855" indent="-566927" defTabSz="2267655">
              <a:spcBef>
                <a:spcPts val="4100"/>
              </a:spcBef>
              <a:defRPr sz="4464"/>
            </a:pPr>
            <a:r>
              <a:t>通过页面中记载的space_id和page_no推算page存在的offset，如果和恢复任务正在进行的offset相同，则验证通过，恢复成功。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ageServerManager的能力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45738">
              <a:defRPr spc="-149" sz="7480"/>
            </a:lvl1pPr>
          </a:lstStyle>
          <a:p>
            <a:pPr/>
            <a:r>
              <a:t>PageServerManager的能力</a:t>
            </a:r>
          </a:p>
        </p:txBody>
      </p:sp>
      <p:sp>
        <p:nvSpPr>
          <p:cNvPr id="429" name="收集各个模块心跳，管理各个模块…"/>
          <p:cNvSpPr txBox="1"/>
          <p:nvPr>
            <p:ph type="body" sz="half" idx="1"/>
          </p:nvPr>
        </p:nvSpPr>
        <p:spPr>
          <a:xfrm>
            <a:off x="1206500" y="4248504"/>
            <a:ext cx="10148765" cy="8256012"/>
          </a:xfrm>
          <a:prstGeom prst="rect">
            <a:avLst/>
          </a:prstGeom>
        </p:spPr>
        <p:txBody>
          <a:bodyPr/>
          <a:lstStyle/>
          <a:p>
            <a:pPr/>
            <a:r>
              <a:t>收集各个模块心跳，管理各个模块</a:t>
            </a:r>
          </a:p>
          <a:p>
            <a:pPr/>
            <a:r>
              <a:t>负责元数据的管理，包括数据库表等元数据信息，逻辑extent到物理extent的映射</a:t>
            </a:r>
          </a:p>
          <a:p>
            <a:pPr/>
            <a:r>
              <a:t>维护集群水位信息</a:t>
            </a:r>
          </a:p>
        </p:txBody>
      </p:sp>
      <p:pic>
        <p:nvPicPr>
          <p:cNvPr id="430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018556" y="5290573"/>
            <a:ext cx="11861302" cy="468375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ageServerManager架构"/>
          <p:cNvSpPr txBox="1"/>
          <p:nvPr>
            <p:ph type="title"/>
          </p:nvPr>
        </p:nvSpPr>
        <p:spPr>
          <a:xfrm>
            <a:off x="1206500" y="1079500"/>
            <a:ext cx="10647155" cy="1433163"/>
          </a:xfrm>
          <a:prstGeom prst="rect">
            <a:avLst/>
          </a:prstGeom>
        </p:spPr>
        <p:txBody>
          <a:bodyPr/>
          <a:lstStyle>
            <a:lvl1pPr defTabSz="2072588">
              <a:defRPr spc="-144" sz="7225"/>
            </a:lvl1pPr>
          </a:lstStyle>
          <a:p>
            <a:pPr/>
            <a:r>
              <a:t>PageServerManager架构</a:t>
            </a:r>
          </a:p>
        </p:txBody>
      </p:sp>
      <p:pic>
        <p:nvPicPr>
          <p:cNvPr id="433" name="矩形 矩形" descr="矩形 矩形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128122" y="2786912"/>
            <a:ext cx="15244746" cy="10222567"/>
          </a:xfrm>
          <a:prstGeom prst="rect">
            <a:avLst/>
          </a:prstGeom>
        </p:spPr>
      </p:pic>
      <p:grpSp>
        <p:nvGrpSpPr>
          <p:cNvPr id="437" name="Manager service"/>
          <p:cNvGrpSpPr/>
          <p:nvPr/>
        </p:nvGrpSpPr>
        <p:grpSpPr>
          <a:xfrm>
            <a:off x="5854420" y="3829598"/>
            <a:ext cx="3593202" cy="829112"/>
            <a:chOff x="0" y="0"/>
            <a:chExt cx="3593201" cy="829110"/>
          </a:xfrm>
        </p:grpSpPr>
        <p:sp>
          <p:nvSpPr>
            <p:cNvPr id="436" name="Manager service"/>
            <p:cNvSpPr/>
            <p:nvPr/>
          </p:nvSpPr>
          <p:spPr>
            <a:xfrm>
              <a:off x="38100" y="38100"/>
              <a:ext cx="3517002" cy="7529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Manager service</a:t>
              </a:r>
            </a:p>
          </p:txBody>
        </p:sp>
        <p:pic>
          <p:nvPicPr>
            <p:cNvPr id="435" name="Manager service Manager service" descr="Manager service Manager service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3593202" cy="829111"/>
            </a:xfrm>
            <a:prstGeom prst="rect">
              <a:avLst/>
            </a:prstGeom>
            <a:effectLst/>
          </p:spPr>
        </p:pic>
      </p:grpSp>
      <p:grpSp>
        <p:nvGrpSpPr>
          <p:cNvPr id="440" name="Query service"/>
          <p:cNvGrpSpPr/>
          <p:nvPr/>
        </p:nvGrpSpPr>
        <p:grpSpPr>
          <a:xfrm>
            <a:off x="10400944" y="3829598"/>
            <a:ext cx="3325243" cy="829112"/>
            <a:chOff x="0" y="0"/>
            <a:chExt cx="3325242" cy="829110"/>
          </a:xfrm>
        </p:grpSpPr>
        <p:sp>
          <p:nvSpPr>
            <p:cNvPr id="439" name="Query service"/>
            <p:cNvSpPr/>
            <p:nvPr/>
          </p:nvSpPr>
          <p:spPr>
            <a:xfrm>
              <a:off x="38100" y="38100"/>
              <a:ext cx="3249043" cy="7529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Query service</a:t>
              </a:r>
            </a:p>
          </p:txBody>
        </p:sp>
        <p:pic>
          <p:nvPicPr>
            <p:cNvPr id="438" name="Query service Query service" descr="Query service Query service"/>
            <p:cNvPicPr>
              <a:picLocks noChangeAspect="0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0"/>
              <a:ext cx="3325243" cy="829111"/>
            </a:xfrm>
            <a:prstGeom prst="rect">
              <a:avLst/>
            </a:prstGeom>
            <a:effectLst/>
          </p:spPr>
        </p:pic>
      </p:grpSp>
      <p:grpSp>
        <p:nvGrpSpPr>
          <p:cNvPr id="443" name="Cmp mgr"/>
          <p:cNvGrpSpPr/>
          <p:nvPr/>
        </p:nvGrpSpPr>
        <p:grpSpPr>
          <a:xfrm>
            <a:off x="5873443" y="7904511"/>
            <a:ext cx="5155475" cy="829111"/>
            <a:chOff x="0" y="0"/>
            <a:chExt cx="5155474" cy="829110"/>
          </a:xfrm>
        </p:grpSpPr>
        <p:sp>
          <p:nvSpPr>
            <p:cNvPr id="442" name="Cmp mgr"/>
            <p:cNvSpPr/>
            <p:nvPr/>
          </p:nvSpPr>
          <p:spPr>
            <a:xfrm>
              <a:off x="38099" y="38100"/>
              <a:ext cx="5079276" cy="7529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Cmp mgr</a:t>
              </a:r>
            </a:p>
          </p:txBody>
        </p:sp>
        <p:pic>
          <p:nvPicPr>
            <p:cNvPr id="441" name="Cmp mgr Cmp mgr" descr="Cmp mgr Cmp mgr"/>
            <p:cNvPicPr>
              <a:picLocks noChangeAspect="0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0" y="0"/>
              <a:ext cx="5155475" cy="829111"/>
            </a:xfrm>
            <a:prstGeom prst="rect">
              <a:avLst/>
            </a:prstGeom>
            <a:effectLst/>
          </p:spPr>
        </p:pic>
      </p:grpSp>
      <p:grpSp>
        <p:nvGrpSpPr>
          <p:cNvPr id="446" name="Heartbeat service"/>
          <p:cNvGrpSpPr/>
          <p:nvPr/>
        </p:nvGrpSpPr>
        <p:grpSpPr>
          <a:xfrm>
            <a:off x="14679509" y="3849241"/>
            <a:ext cx="4208779" cy="829112"/>
            <a:chOff x="0" y="0"/>
            <a:chExt cx="4208777" cy="829110"/>
          </a:xfrm>
        </p:grpSpPr>
        <p:sp>
          <p:nvSpPr>
            <p:cNvPr id="445" name="Heartbeat service"/>
            <p:cNvSpPr/>
            <p:nvPr/>
          </p:nvSpPr>
          <p:spPr>
            <a:xfrm>
              <a:off x="38100" y="38100"/>
              <a:ext cx="4132578" cy="7529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Heartbeat service</a:t>
              </a:r>
            </a:p>
          </p:txBody>
        </p:sp>
        <p:pic>
          <p:nvPicPr>
            <p:cNvPr id="444" name="Heartbeat service Heartbeat service" descr="Heartbeat service Heartbeat service"/>
            <p:cNvPicPr>
              <a:picLocks noChangeAspect="0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0" y="0"/>
              <a:ext cx="4208778" cy="829111"/>
            </a:xfrm>
            <a:prstGeom prst="rect">
              <a:avLst/>
            </a:prstGeom>
            <a:effectLst/>
          </p:spPr>
        </p:pic>
      </p:grpSp>
      <p:grpSp>
        <p:nvGrpSpPr>
          <p:cNvPr id="449" name="Master control…"/>
          <p:cNvGrpSpPr/>
          <p:nvPr/>
        </p:nvGrpSpPr>
        <p:grpSpPr>
          <a:xfrm>
            <a:off x="13933081" y="5706796"/>
            <a:ext cx="3325244" cy="1278533"/>
            <a:chOff x="0" y="0"/>
            <a:chExt cx="3325242" cy="1278531"/>
          </a:xfrm>
        </p:grpSpPr>
        <p:sp>
          <p:nvSpPr>
            <p:cNvPr id="448" name="Master control…"/>
            <p:cNvSpPr/>
            <p:nvPr/>
          </p:nvSpPr>
          <p:spPr>
            <a:xfrm>
              <a:off x="38100" y="38100"/>
              <a:ext cx="3249043" cy="1202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r>
                <a:t>Master control</a:t>
              </a:r>
            </a:p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r>
                <a:t>raft</a:t>
              </a:r>
            </a:p>
          </p:txBody>
        </p:sp>
        <p:pic>
          <p:nvPicPr>
            <p:cNvPr id="447" name="Master control… Master controlraft" descr="Master control… Master controlraft"/>
            <p:cNvPicPr>
              <a:picLocks noChangeAspect="0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0" y="0"/>
              <a:ext cx="3325243" cy="1278532"/>
            </a:xfrm>
            <a:prstGeom prst="rect">
              <a:avLst/>
            </a:prstGeom>
            <a:effectLst/>
          </p:spPr>
        </p:pic>
      </p:grpSp>
      <p:grpSp>
        <p:nvGrpSpPr>
          <p:cNvPr id="452" name="ls mgr"/>
          <p:cNvGrpSpPr/>
          <p:nvPr/>
        </p:nvGrpSpPr>
        <p:grpSpPr>
          <a:xfrm>
            <a:off x="5867281" y="9058759"/>
            <a:ext cx="5155475" cy="829112"/>
            <a:chOff x="0" y="0"/>
            <a:chExt cx="5155474" cy="829110"/>
          </a:xfrm>
        </p:grpSpPr>
        <p:sp>
          <p:nvSpPr>
            <p:cNvPr id="451" name="ls mgr"/>
            <p:cNvSpPr/>
            <p:nvPr/>
          </p:nvSpPr>
          <p:spPr>
            <a:xfrm>
              <a:off x="38099" y="38100"/>
              <a:ext cx="5079276" cy="7529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ls mgr</a:t>
              </a:r>
            </a:p>
          </p:txBody>
        </p:sp>
        <p:pic>
          <p:nvPicPr>
            <p:cNvPr id="450" name="ls mgr ls mgr" descr="ls mgr ls mgr"/>
            <p:cNvPicPr>
              <a:picLocks noChangeAspect="0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-1" y="0"/>
              <a:ext cx="5155476" cy="829111"/>
            </a:xfrm>
            <a:prstGeom prst="rect">
              <a:avLst/>
            </a:prstGeom>
            <a:effectLst/>
          </p:spPr>
        </p:pic>
      </p:grpSp>
      <p:grpSp>
        <p:nvGrpSpPr>
          <p:cNvPr id="455" name="Replica mgr"/>
          <p:cNvGrpSpPr/>
          <p:nvPr/>
        </p:nvGrpSpPr>
        <p:grpSpPr>
          <a:xfrm>
            <a:off x="5861119" y="10213007"/>
            <a:ext cx="5155476" cy="829112"/>
            <a:chOff x="0" y="0"/>
            <a:chExt cx="5155474" cy="829110"/>
          </a:xfrm>
        </p:grpSpPr>
        <p:sp>
          <p:nvSpPr>
            <p:cNvPr id="454" name="Replica mgr"/>
            <p:cNvSpPr/>
            <p:nvPr/>
          </p:nvSpPr>
          <p:spPr>
            <a:xfrm>
              <a:off x="38099" y="38100"/>
              <a:ext cx="5079276" cy="7529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Replica mgr</a:t>
              </a:r>
            </a:p>
          </p:txBody>
        </p:sp>
        <p:pic>
          <p:nvPicPr>
            <p:cNvPr id="453" name="Replica mgr Replica mgr" descr="Replica mgr Replica mgr"/>
            <p:cNvPicPr>
              <a:picLocks noChangeAspect="0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-1" y="0"/>
              <a:ext cx="5155476" cy="829111"/>
            </a:xfrm>
            <a:prstGeom prst="rect">
              <a:avLst/>
            </a:prstGeom>
            <a:effectLst/>
          </p:spPr>
        </p:pic>
      </p:grpSp>
      <p:grpSp>
        <p:nvGrpSpPr>
          <p:cNvPr id="458" name="PS mgr"/>
          <p:cNvGrpSpPr/>
          <p:nvPr/>
        </p:nvGrpSpPr>
        <p:grpSpPr>
          <a:xfrm>
            <a:off x="5867281" y="6750263"/>
            <a:ext cx="5155475" cy="829111"/>
            <a:chOff x="0" y="0"/>
            <a:chExt cx="5155474" cy="829110"/>
          </a:xfrm>
        </p:grpSpPr>
        <p:sp>
          <p:nvSpPr>
            <p:cNvPr id="457" name="PS mgr"/>
            <p:cNvSpPr/>
            <p:nvPr/>
          </p:nvSpPr>
          <p:spPr>
            <a:xfrm>
              <a:off x="38099" y="38100"/>
              <a:ext cx="5079276" cy="7529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PS mgr</a:t>
              </a:r>
            </a:p>
          </p:txBody>
        </p:sp>
        <p:pic>
          <p:nvPicPr>
            <p:cNvPr id="456" name="PS mgr PS mgr" descr="PS mgr PS mgr"/>
            <p:cNvPicPr>
              <a:picLocks noChangeAspect="0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-1" y="0"/>
              <a:ext cx="5155476" cy="829111"/>
            </a:xfrm>
            <a:prstGeom prst="rect">
              <a:avLst/>
            </a:prstGeom>
            <a:effectLst/>
          </p:spPr>
        </p:pic>
      </p:grpSp>
      <p:pic>
        <p:nvPicPr>
          <p:cNvPr id="459" name="矩形 矩形" descr="矩形 矩形"/>
          <p:cNvPicPr>
            <a:picLocks noChangeAspect="0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5526619" y="5529901"/>
            <a:ext cx="6007532" cy="6910388"/>
          </a:xfrm>
          <a:prstGeom prst="rect">
            <a:avLst/>
          </a:prstGeom>
        </p:spPr>
      </p:pic>
      <p:pic>
        <p:nvPicPr>
          <p:cNvPr id="461" name="矩形 矩形" descr="矩形 矩形"/>
          <p:cNvPicPr>
            <a:picLocks noChangeAspect="0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5526619" y="3057188"/>
            <a:ext cx="14240231" cy="1928189"/>
          </a:xfrm>
          <a:prstGeom prst="rect">
            <a:avLst/>
          </a:prstGeom>
        </p:spPr>
      </p:pic>
      <p:sp>
        <p:nvSpPr>
          <p:cNvPr id="463" name="service模块"/>
          <p:cNvSpPr txBox="1"/>
          <p:nvPr/>
        </p:nvSpPr>
        <p:spPr>
          <a:xfrm>
            <a:off x="5773779" y="3249582"/>
            <a:ext cx="1688898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service模块</a:t>
            </a:r>
          </a:p>
        </p:txBody>
      </p:sp>
      <p:sp>
        <p:nvSpPr>
          <p:cNvPr id="464" name="节点管理模块"/>
          <p:cNvSpPr txBox="1"/>
          <p:nvPr/>
        </p:nvSpPr>
        <p:spPr>
          <a:xfrm>
            <a:off x="5868793" y="5879613"/>
            <a:ext cx="1943101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节点管理模块</a:t>
            </a:r>
          </a:p>
        </p:txBody>
      </p:sp>
      <p:grpSp>
        <p:nvGrpSpPr>
          <p:cNvPr id="467" name="Segment mgr"/>
          <p:cNvGrpSpPr/>
          <p:nvPr/>
        </p:nvGrpSpPr>
        <p:grpSpPr>
          <a:xfrm>
            <a:off x="13000948" y="10081358"/>
            <a:ext cx="5155476" cy="829112"/>
            <a:chOff x="0" y="0"/>
            <a:chExt cx="5155474" cy="829110"/>
          </a:xfrm>
        </p:grpSpPr>
        <p:sp>
          <p:nvSpPr>
            <p:cNvPr id="466" name="Segment mgr"/>
            <p:cNvSpPr/>
            <p:nvPr/>
          </p:nvSpPr>
          <p:spPr>
            <a:xfrm>
              <a:off x="38099" y="38100"/>
              <a:ext cx="5079276" cy="7529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Segment mgr</a:t>
              </a:r>
            </a:p>
          </p:txBody>
        </p:sp>
        <p:pic>
          <p:nvPicPr>
            <p:cNvPr id="465" name="Segment mgr Segment mgr" descr="Segment mgr Segment mgr"/>
            <p:cNvPicPr>
              <a:picLocks noChangeAspect="0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-1" y="0"/>
              <a:ext cx="5155476" cy="829111"/>
            </a:xfrm>
            <a:prstGeom prst="rect">
              <a:avLst/>
            </a:prstGeom>
            <a:effectLst/>
          </p:spPr>
        </p:pic>
      </p:grpSp>
      <p:grpSp>
        <p:nvGrpSpPr>
          <p:cNvPr id="470" name="ColumnStore mgr"/>
          <p:cNvGrpSpPr/>
          <p:nvPr/>
        </p:nvGrpSpPr>
        <p:grpSpPr>
          <a:xfrm>
            <a:off x="5880142" y="11367255"/>
            <a:ext cx="5155476" cy="829112"/>
            <a:chOff x="0" y="0"/>
            <a:chExt cx="5155474" cy="829110"/>
          </a:xfrm>
        </p:grpSpPr>
        <p:sp>
          <p:nvSpPr>
            <p:cNvPr id="469" name="ColumnStore mgr"/>
            <p:cNvSpPr/>
            <p:nvPr/>
          </p:nvSpPr>
          <p:spPr>
            <a:xfrm>
              <a:off x="38099" y="38100"/>
              <a:ext cx="5079276" cy="7529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ColumnStore mgr</a:t>
              </a:r>
            </a:p>
          </p:txBody>
        </p:sp>
        <p:pic>
          <p:nvPicPr>
            <p:cNvPr id="468" name="ColumnStore mgr ColumnStore mgr" descr="ColumnStore mgr ColumnStore mgr"/>
            <p:cNvPicPr>
              <a:picLocks noChangeAspect="0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-1" y="0"/>
              <a:ext cx="5155476" cy="829111"/>
            </a:xfrm>
            <a:prstGeom prst="rect">
              <a:avLst/>
            </a:prstGeom>
            <a:effectLst/>
          </p:spPr>
        </p:pic>
      </p:grpSp>
      <p:grpSp>
        <p:nvGrpSpPr>
          <p:cNvPr id="473" name="Space mgr"/>
          <p:cNvGrpSpPr/>
          <p:nvPr/>
        </p:nvGrpSpPr>
        <p:grpSpPr>
          <a:xfrm>
            <a:off x="12994787" y="8927110"/>
            <a:ext cx="5155475" cy="829112"/>
            <a:chOff x="0" y="0"/>
            <a:chExt cx="5155474" cy="829110"/>
          </a:xfrm>
        </p:grpSpPr>
        <p:sp>
          <p:nvSpPr>
            <p:cNvPr id="472" name="Space mgr"/>
            <p:cNvSpPr/>
            <p:nvPr/>
          </p:nvSpPr>
          <p:spPr>
            <a:xfrm>
              <a:off x="38099" y="38100"/>
              <a:ext cx="5079276" cy="7529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Space mgr</a:t>
              </a:r>
            </a:p>
          </p:txBody>
        </p:sp>
        <p:pic>
          <p:nvPicPr>
            <p:cNvPr id="471" name="Space mgr Space mgr" descr="Space mgr Space mgr"/>
            <p:cNvPicPr>
              <a:picLocks noChangeAspect="0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-1" y="0"/>
              <a:ext cx="5155476" cy="829111"/>
            </a:xfrm>
            <a:prstGeom prst="rect">
              <a:avLst/>
            </a:prstGeom>
            <a:effectLst/>
          </p:spPr>
        </p:pic>
      </p:grpSp>
      <p:pic>
        <p:nvPicPr>
          <p:cNvPr id="474" name="矩形 矩形" descr="矩形 矩形"/>
          <p:cNvPicPr>
            <a:picLocks noChangeAspect="0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12654124" y="7706749"/>
            <a:ext cx="6007533" cy="3709005"/>
          </a:xfrm>
          <a:prstGeom prst="rect">
            <a:avLst/>
          </a:prstGeom>
        </p:spPr>
      </p:pic>
      <p:sp>
        <p:nvSpPr>
          <p:cNvPr id="476" name="元数据管理模块"/>
          <p:cNvSpPr txBox="1"/>
          <p:nvPr/>
        </p:nvSpPr>
        <p:spPr>
          <a:xfrm>
            <a:off x="13053153" y="7936947"/>
            <a:ext cx="2247901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元数据管理模块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Segment初始化和extent分配流程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45738">
              <a:defRPr spc="-149" sz="7480"/>
            </a:lvl1pPr>
          </a:lstStyle>
          <a:p>
            <a:pPr/>
            <a:r>
              <a:t>Segment初始化和extent分配流程</a:t>
            </a:r>
          </a:p>
        </p:txBody>
      </p:sp>
      <p:sp>
        <p:nvSpPr>
          <p:cNvPr id="479" name="集群启动时，由管控分配page server给psm，psm为cluster分配8个初始segment，每个32g。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集群启动时，由管控分配page server给psm，psm为cluster分配8个初始segment，每个32g。</a:t>
            </a:r>
          </a:p>
          <a:p>
            <a:pPr/>
            <a:r>
              <a:t>alloc_extent时，通过分配策略（最简单的是round robin）找到特定segment中的空闲extent。而后记录在map中，记录为&lt;logical_extent_id, &lt;segment_id, physical_extent_id&gt;&gt;</a:t>
            </a:r>
          </a:p>
          <a:p>
            <a:pPr/>
            <a:r>
              <a:t>Log service拉取到对应space的map信息后，将log record进行parse后划分到不同的segment cache中，待page server拉取。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全局水位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45738">
              <a:defRPr spc="-149" sz="7480"/>
            </a:lvl1pPr>
          </a:lstStyle>
          <a:p>
            <a:pPr/>
            <a:r>
              <a:t>全局水位</a:t>
            </a:r>
          </a:p>
        </p:txBody>
      </p:sp>
      <p:grpSp>
        <p:nvGrpSpPr>
          <p:cNvPr id="484" name="Primary"/>
          <p:cNvGrpSpPr/>
          <p:nvPr/>
        </p:nvGrpSpPr>
        <p:grpSpPr>
          <a:xfrm>
            <a:off x="8397970" y="2964099"/>
            <a:ext cx="1851324" cy="763402"/>
            <a:chOff x="0" y="0"/>
            <a:chExt cx="1851322" cy="763401"/>
          </a:xfrm>
        </p:grpSpPr>
        <p:sp>
          <p:nvSpPr>
            <p:cNvPr id="483" name="Primary"/>
            <p:cNvSpPr/>
            <p:nvPr/>
          </p:nvSpPr>
          <p:spPr>
            <a:xfrm>
              <a:off x="38100" y="38100"/>
              <a:ext cx="1775123" cy="687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Primary</a:t>
              </a:r>
            </a:p>
          </p:txBody>
        </p:sp>
        <p:pic>
          <p:nvPicPr>
            <p:cNvPr id="482" name="Primary Primary" descr="Primary Primary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851323" cy="763402"/>
            </a:xfrm>
            <a:prstGeom prst="rect">
              <a:avLst/>
            </a:prstGeom>
            <a:effectLst/>
          </p:spPr>
        </p:pic>
      </p:grpSp>
      <p:grpSp>
        <p:nvGrpSpPr>
          <p:cNvPr id="487" name="Secondary"/>
          <p:cNvGrpSpPr/>
          <p:nvPr/>
        </p:nvGrpSpPr>
        <p:grpSpPr>
          <a:xfrm>
            <a:off x="11435507" y="2957937"/>
            <a:ext cx="2427219" cy="763403"/>
            <a:chOff x="0" y="0"/>
            <a:chExt cx="2427217" cy="763401"/>
          </a:xfrm>
        </p:grpSpPr>
        <p:sp>
          <p:nvSpPr>
            <p:cNvPr id="486" name="Secondary"/>
            <p:cNvSpPr/>
            <p:nvPr/>
          </p:nvSpPr>
          <p:spPr>
            <a:xfrm>
              <a:off x="38100" y="38100"/>
              <a:ext cx="2351018" cy="687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Secondary</a:t>
              </a:r>
            </a:p>
          </p:txBody>
        </p:sp>
        <p:pic>
          <p:nvPicPr>
            <p:cNvPr id="485" name="Secondary Secondary" descr="Secondary Secondary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2427218" cy="763402"/>
            </a:xfrm>
            <a:prstGeom prst="rect">
              <a:avLst/>
            </a:prstGeom>
            <a:effectLst/>
          </p:spPr>
        </p:pic>
      </p:grpSp>
      <p:grpSp>
        <p:nvGrpSpPr>
          <p:cNvPr id="490" name="Secondary"/>
          <p:cNvGrpSpPr/>
          <p:nvPr/>
        </p:nvGrpSpPr>
        <p:grpSpPr>
          <a:xfrm>
            <a:off x="14758390" y="2951775"/>
            <a:ext cx="2427219" cy="763403"/>
            <a:chOff x="0" y="0"/>
            <a:chExt cx="2427217" cy="763401"/>
          </a:xfrm>
        </p:grpSpPr>
        <p:sp>
          <p:nvSpPr>
            <p:cNvPr id="489" name="Secondary"/>
            <p:cNvSpPr/>
            <p:nvPr/>
          </p:nvSpPr>
          <p:spPr>
            <a:xfrm>
              <a:off x="38100" y="38100"/>
              <a:ext cx="2351018" cy="687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Secondary</a:t>
              </a:r>
            </a:p>
          </p:txBody>
        </p:sp>
        <p:pic>
          <p:nvPicPr>
            <p:cNvPr id="488" name="Secondary Secondary" descr="Secondary Secondary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2427218" cy="763402"/>
            </a:xfrm>
            <a:prstGeom prst="rect">
              <a:avLst/>
            </a:prstGeom>
            <a:effectLst/>
          </p:spPr>
        </p:pic>
      </p:grpSp>
      <p:grpSp>
        <p:nvGrpSpPr>
          <p:cNvPr id="493" name="LogService"/>
          <p:cNvGrpSpPr/>
          <p:nvPr/>
        </p:nvGrpSpPr>
        <p:grpSpPr>
          <a:xfrm>
            <a:off x="4758394" y="6401121"/>
            <a:ext cx="2427219" cy="763402"/>
            <a:chOff x="0" y="0"/>
            <a:chExt cx="2427217" cy="763401"/>
          </a:xfrm>
        </p:grpSpPr>
        <p:sp>
          <p:nvSpPr>
            <p:cNvPr id="492" name="LogService"/>
            <p:cNvSpPr/>
            <p:nvPr/>
          </p:nvSpPr>
          <p:spPr>
            <a:xfrm>
              <a:off x="38100" y="38100"/>
              <a:ext cx="2351018" cy="687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LogService</a:t>
              </a:r>
            </a:p>
          </p:txBody>
        </p:sp>
        <p:pic>
          <p:nvPicPr>
            <p:cNvPr id="491" name="LogService LogService" descr="LogService LogService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2427218" cy="763402"/>
            </a:xfrm>
            <a:prstGeom prst="rect">
              <a:avLst/>
            </a:prstGeom>
            <a:effectLst/>
          </p:spPr>
        </p:pic>
      </p:grpSp>
      <p:grpSp>
        <p:nvGrpSpPr>
          <p:cNvPr id="496" name="PS2"/>
          <p:cNvGrpSpPr/>
          <p:nvPr/>
        </p:nvGrpSpPr>
        <p:grpSpPr>
          <a:xfrm>
            <a:off x="11562507" y="8944056"/>
            <a:ext cx="2427219" cy="763402"/>
            <a:chOff x="0" y="0"/>
            <a:chExt cx="2427217" cy="763401"/>
          </a:xfrm>
        </p:grpSpPr>
        <p:sp>
          <p:nvSpPr>
            <p:cNvPr id="495" name="PS2"/>
            <p:cNvSpPr/>
            <p:nvPr/>
          </p:nvSpPr>
          <p:spPr>
            <a:xfrm>
              <a:off x="38100" y="38100"/>
              <a:ext cx="2351018" cy="687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PS2</a:t>
              </a:r>
            </a:p>
          </p:txBody>
        </p:sp>
        <p:pic>
          <p:nvPicPr>
            <p:cNvPr id="494" name="PS2 PS2" descr="PS2 PS2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2427218" cy="763402"/>
            </a:xfrm>
            <a:prstGeom prst="rect">
              <a:avLst/>
            </a:prstGeom>
            <a:effectLst/>
          </p:spPr>
        </p:pic>
      </p:grpSp>
      <p:grpSp>
        <p:nvGrpSpPr>
          <p:cNvPr id="499" name="PS3"/>
          <p:cNvGrpSpPr/>
          <p:nvPr/>
        </p:nvGrpSpPr>
        <p:grpSpPr>
          <a:xfrm>
            <a:off x="14885390" y="8937894"/>
            <a:ext cx="2427219" cy="763403"/>
            <a:chOff x="0" y="0"/>
            <a:chExt cx="2427217" cy="763401"/>
          </a:xfrm>
        </p:grpSpPr>
        <p:sp>
          <p:nvSpPr>
            <p:cNvPr id="498" name="PS3"/>
            <p:cNvSpPr/>
            <p:nvPr/>
          </p:nvSpPr>
          <p:spPr>
            <a:xfrm>
              <a:off x="38100" y="38100"/>
              <a:ext cx="2351018" cy="687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PS3</a:t>
              </a:r>
            </a:p>
          </p:txBody>
        </p:sp>
        <p:pic>
          <p:nvPicPr>
            <p:cNvPr id="497" name="PS3 PS3" descr="PS3 PS3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2427218" cy="763402"/>
            </a:xfrm>
            <a:prstGeom prst="rect">
              <a:avLst/>
            </a:prstGeom>
            <a:effectLst/>
          </p:spPr>
        </p:pic>
      </p:grpSp>
      <p:grpSp>
        <p:nvGrpSpPr>
          <p:cNvPr id="502" name="PS2"/>
          <p:cNvGrpSpPr/>
          <p:nvPr/>
        </p:nvGrpSpPr>
        <p:grpSpPr>
          <a:xfrm>
            <a:off x="8239624" y="8937895"/>
            <a:ext cx="2427219" cy="763402"/>
            <a:chOff x="0" y="0"/>
            <a:chExt cx="2427217" cy="763401"/>
          </a:xfrm>
        </p:grpSpPr>
        <p:sp>
          <p:nvSpPr>
            <p:cNvPr id="501" name="PS2"/>
            <p:cNvSpPr/>
            <p:nvPr/>
          </p:nvSpPr>
          <p:spPr>
            <a:xfrm>
              <a:off x="38100" y="38100"/>
              <a:ext cx="2351018" cy="687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PS2</a:t>
              </a:r>
            </a:p>
          </p:txBody>
        </p:sp>
        <p:pic>
          <p:nvPicPr>
            <p:cNvPr id="500" name="PS2 PS2" descr="PS2 PS2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2427218" cy="763402"/>
            </a:xfrm>
            <a:prstGeom prst="rect">
              <a:avLst/>
            </a:prstGeom>
            <a:effectLst/>
          </p:spPr>
        </p:pic>
      </p:grpSp>
      <p:grpSp>
        <p:nvGrpSpPr>
          <p:cNvPr id="505" name="LogRecord"/>
          <p:cNvGrpSpPr/>
          <p:nvPr/>
        </p:nvGrpSpPr>
        <p:grpSpPr>
          <a:xfrm>
            <a:off x="7352237" y="11239691"/>
            <a:ext cx="2427219" cy="763402"/>
            <a:chOff x="0" y="0"/>
            <a:chExt cx="2427217" cy="763401"/>
          </a:xfrm>
        </p:grpSpPr>
        <p:sp>
          <p:nvSpPr>
            <p:cNvPr id="504" name="LogRecord"/>
            <p:cNvSpPr/>
            <p:nvPr/>
          </p:nvSpPr>
          <p:spPr>
            <a:xfrm>
              <a:off x="38100" y="38100"/>
              <a:ext cx="2351018" cy="687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chemeClr val="accent5">
                      <a:hueOff val="-82419"/>
                      <a:satOff val="-9513"/>
                      <a:lumOff val="-16343"/>
                    </a:schemeClr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LogRecord</a:t>
              </a:r>
            </a:p>
          </p:txBody>
        </p:sp>
        <p:pic>
          <p:nvPicPr>
            <p:cNvPr id="503" name="LogRecord LogRecord" descr="LogRecord LogRecord"/>
            <p:cNvPicPr>
              <a:picLocks noChangeAspect="0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0"/>
              <a:ext cx="2427218" cy="763402"/>
            </a:xfrm>
            <a:prstGeom prst="rect">
              <a:avLst/>
            </a:prstGeom>
            <a:effectLst/>
          </p:spPr>
        </p:pic>
      </p:grpSp>
      <p:grpSp>
        <p:nvGrpSpPr>
          <p:cNvPr id="508" name="LogRecord"/>
          <p:cNvGrpSpPr/>
          <p:nvPr/>
        </p:nvGrpSpPr>
        <p:grpSpPr>
          <a:xfrm>
            <a:off x="9704942" y="11233529"/>
            <a:ext cx="2427218" cy="763402"/>
            <a:chOff x="0" y="0"/>
            <a:chExt cx="2427217" cy="763401"/>
          </a:xfrm>
        </p:grpSpPr>
        <p:sp>
          <p:nvSpPr>
            <p:cNvPr id="507" name="LogRecord"/>
            <p:cNvSpPr/>
            <p:nvPr/>
          </p:nvSpPr>
          <p:spPr>
            <a:xfrm>
              <a:off x="38100" y="38100"/>
              <a:ext cx="2351018" cy="687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LogRecord</a:t>
              </a:r>
            </a:p>
          </p:txBody>
        </p:sp>
        <p:pic>
          <p:nvPicPr>
            <p:cNvPr id="506" name="LogRecord LogRecord" descr="LogRecord LogRecord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2427218" cy="763402"/>
            </a:xfrm>
            <a:prstGeom prst="rect">
              <a:avLst/>
            </a:prstGeom>
            <a:effectLst/>
          </p:spPr>
        </p:pic>
      </p:grpSp>
      <p:grpSp>
        <p:nvGrpSpPr>
          <p:cNvPr id="511" name="LogRecord"/>
          <p:cNvGrpSpPr/>
          <p:nvPr/>
        </p:nvGrpSpPr>
        <p:grpSpPr>
          <a:xfrm>
            <a:off x="4999533" y="11233529"/>
            <a:ext cx="2427219" cy="763402"/>
            <a:chOff x="0" y="0"/>
            <a:chExt cx="2427217" cy="763401"/>
          </a:xfrm>
        </p:grpSpPr>
        <p:sp>
          <p:nvSpPr>
            <p:cNvPr id="510" name="LogRecord"/>
            <p:cNvSpPr/>
            <p:nvPr/>
          </p:nvSpPr>
          <p:spPr>
            <a:xfrm>
              <a:off x="38100" y="38100"/>
              <a:ext cx="2351018" cy="687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chemeClr val="accent5">
                      <a:hueOff val="-82419"/>
                      <a:satOff val="-9513"/>
                      <a:lumOff val="-16343"/>
                    </a:schemeClr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LogRecord</a:t>
              </a:r>
            </a:p>
          </p:txBody>
        </p:sp>
        <p:pic>
          <p:nvPicPr>
            <p:cNvPr id="509" name="LogRecord LogRecord" descr="LogRecord LogRecord"/>
            <p:cNvPicPr>
              <a:picLocks noChangeAspect="0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0"/>
              <a:ext cx="2427218" cy="763402"/>
            </a:xfrm>
            <a:prstGeom prst="rect">
              <a:avLst/>
            </a:prstGeom>
            <a:effectLst/>
          </p:spPr>
        </p:pic>
      </p:grpSp>
      <p:grpSp>
        <p:nvGrpSpPr>
          <p:cNvPr id="514" name="LogRecord"/>
          <p:cNvGrpSpPr/>
          <p:nvPr/>
        </p:nvGrpSpPr>
        <p:grpSpPr>
          <a:xfrm>
            <a:off x="12076669" y="11227368"/>
            <a:ext cx="2427219" cy="763402"/>
            <a:chOff x="0" y="0"/>
            <a:chExt cx="2427217" cy="763401"/>
          </a:xfrm>
        </p:grpSpPr>
        <p:sp>
          <p:nvSpPr>
            <p:cNvPr id="513" name="LogRecord"/>
            <p:cNvSpPr/>
            <p:nvPr/>
          </p:nvSpPr>
          <p:spPr>
            <a:xfrm>
              <a:off x="38100" y="38100"/>
              <a:ext cx="2351018" cy="687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LogRecord</a:t>
              </a:r>
            </a:p>
          </p:txBody>
        </p:sp>
        <p:pic>
          <p:nvPicPr>
            <p:cNvPr id="512" name="LogRecord LogRecord" descr="LogRecord LogRecord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2427218" cy="763402"/>
            </a:xfrm>
            <a:prstGeom prst="rect">
              <a:avLst/>
            </a:prstGeom>
            <a:effectLst/>
          </p:spPr>
        </p:pic>
      </p:grpSp>
      <p:grpSp>
        <p:nvGrpSpPr>
          <p:cNvPr id="517" name="LogRecord"/>
          <p:cNvGrpSpPr/>
          <p:nvPr/>
        </p:nvGrpSpPr>
        <p:grpSpPr>
          <a:xfrm>
            <a:off x="14410350" y="11227368"/>
            <a:ext cx="2427219" cy="763402"/>
            <a:chOff x="0" y="0"/>
            <a:chExt cx="2427217" cy="763401"/>
          </a:xfrm>
        </p:grpSpPr>
        <p:sp>
          <p:nvSpPr>
            <p:cNvPr id="516" name="LogRecord"/>
            <p:cNvSpPr/>
            <p:nvPr/>
          </p:nvSpPr>
          <p:spPr>
            <a:xfrm>
              <a:off x="38100" y="38100"/>
              <a:ext cx="2351018" cy="687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LogRecord</a:t>
              </a:r>
            </a:p>
          </p:txBody>
        </p:sp>
        <p:pic>
          <p:nvPicPr>
            <p:cNvPr id="515" name="LogRecord LogRecord" descr="LogRecord LogRecord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2427218" cy="763402"/>
            </a:xfrm>
            <a:prstGeom prst="rect">
              <a:avLst/>
            </a:prstGeom>
            <a:effectLst/>
          </p:spPr>
        </p:pic>
      </p:grpSp>
      <p:grpSp>
        <p:nvGrpSpPr>
          <p:cNvPr id="520" name="…"/>
          <p:cNvGrpSpPr/>
          <p:nvPr/>
        </p:nvGrpSpPr>
        <p:grpSpPr>
          <a:xfrm>
            <a:off x="16801100" y="11221205"/>
            <a:ext cx="2427219" cy="763403"/>
            <a:chOff x="0" y="0"/>
            <a:chExt cx="2427217" cy="763401"/>
          </a:xfrm>
        </p:grpSpPr>
        <p:sp>
          <p:nvSpPr>
            <p:cNvPr id="519" name="…"/>
            <p:cNvSpPr/>
            <p:nvPr/>
          </p:nvSpPr>
          <p:spPr>
            <a:xfrm>
              <a:off x="38100" y="38100"/>
              <a:ext cx="2351018" cy="687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…</a:t>
              </a:r>
            </a:p>
          </p:txBody>
        </p:sp>
        <p:pic>
          <p:nvPicPr>
            <p:cNvPr id="518" name="… …" descr="… …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2427218" cy="763402"/>
            </a:xfrm>
            <a:prstGeom prst="rect">
              <a:avLst/>
            </a:prstGeom>
            <a:effectLst/>
          </p:spPr>
        </p:pic>
      </p:grpSp>
      <p:sp>
        <p:nvSpPr>
          <p:cNvPr id="521" name="apply_lsn_1"/>
          <p:cNvSpPr txBox="1"/>
          <p:nvPr/>
        </p:nvSpPr>
        <p:spPr>
          <a:xfrm>
            <a:off x="8476863" y="4208604"/>
            <a:ext cx="1723340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apply_lsn_1</a:t>
            </a:r>
          </a:p>
        </p:txBody>
      </p:sp>
      <p:sp>
        <p:nvSpPr>
          <p:cNvPr id="522" name="apply_lsn_2"/>
          <p:cNvSpPr txBox="1"/>
          <p:nvPr/>
        </p:nvSpPr>
        <p:spPr>
          <a:xfrm>
            <a:off x="11837792" y="4166614"/>
            <a:ext cx="1723340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apply_lsn_2</a:t>
            </a:r>
          </a:p>
        </p:txBody>
      </p:sp>
      <p:sp>
        <p:nvSpPr>
          <p:cNvPr id="523" name="apply_lsn_3"/>
          <p:cNvSpPr txBox="1"/>
          <p:nvPr/>
        </p:nvSpPr>
        <p:spPr>
          <a:xfrm>
            <a:off x="15198722" y="4160452"/>
            <a:ext cx="1723340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apply_lsn_3</a:t>
            </a:r>
          </a:p>
        </p:txBody>
      </p:sp>
      <p:sp>
        <p:nvSpPr>
          <p:cNvPr id="535" name="连接线"/>
          <p:cNvSpPr/>
          <p:nvPr/>
        </p:nvSpPr>
        <p:spPr>
          <a:xfrm>
            <a:off x="5547673" y="7164708"/>
            <a:ext cx="486447" cy="40688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6415" h="21600" fill="norm" stroke="1" extrusionOk="0">
                <a:moveTo>
                  <a:pt x="16415" y="21600"/>
                </a:moveTo>
                <a:cubicBezTo>
                  <a:pt x="-2967" y="14535"/>
                  <a:pt x="-5185" y="7335"/>
                  <a:pt x="9760" y="0"/>
                </a:cubicBezTo>
              </a:path>
            </a:pathLst>
          </a:custGeom>
          <a:ln w="25400">
            <a:solidFill>
              <a:srgbClr val="000000"/>
            </a:solidFill>
            <a:miter lim="400000"/>
            <a:headEnd type="triangle"/>
          </a:ln>
        </p:spPr>
        <p:txBody>
          <a:bodyPr/>
          <a:lstStyle/>
          <a:p>
            <a:pPr/>
          </a:p>
        </p:txBody>
      </p:sp>
      <p:sp>
        <p:nvSpPr>
          <p:cNvPr id="525" name="cn_lowest_lsn = min(apply_lsn_1,apply_lsn_2, apply_lsn_3)"/>
          <p:cNvSpPr txBox="1"/>
          <p:nvPr/>
        </p:nvSpPr>
        <p:spPr>
          <a:xfrm>
            <a:off x="8776357" y="5073254"/>
            <a:ext cx="8200950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cn_lowest_lsn = min(apply_lsn_1,apply_lsn_2, apply_lsn_3) </a:t>
            </a:r>
          </a:p>
        </p:txBody>
      </p:sp>
      <p:sp>
        <p:nvSpPr>
          <p:cNvPr id="526" name="ps_lowest_lsn = min(gc_lsn_1,gc_lsn_2, gc_lsn_3)"/>
          <p:cNvSpPr txBox="1"/>
          <p:nvPr/>
        </p:nvSpPr>
        <p:spPr>
          <a:xfrm>
            <a:off x="9418146" y="8145826"/>
            <a:ext cx="6981140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ps_lowest_lsn = min(gc_lsn_1,gc_lsn_2, gc_lsn_3) </a:t>
            </a:r>
          </a:p>
        </p:txBody>
      </p:sp>
      <p:sp>
        <p:nvSpPr>
          <p:cNvPr id="527" name="lowest_lsn = min(cn_lowest_lsn, ps_lowest_lsn)"/>
          <p:cNvSpPr txBox="1"/>
          <p:nvPr/>
        </p:nvSpPr>
        <p:spPr>
          <a:xfrm>
            <a:off x="9631757" y="6555335"/>
            <a:ext cx="6630011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lowest_lsn = min(cn_lowest_lsn, ps_lowest_lsn) </a:t>
            </a:r>
          </a:p>
        </p:txBody>
      </p:sp>
      <p:sp>
        <p:nvSpPr>
          <p:cNvPr id="528" name="线条"/>
          <p:cNvSpPr/>
          <p:nvPr/>
        </p:nvSpPr>
        <p:spPr>
          <a:xfrm>
            <a:off x="5109056" y="12736691"/>
            <a:ext cx="1404283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29" name="Lsn增大方向"/>
          <p:cNvSpPr txBox="1"/>
          <p:nvPr/>
        </p:nvSpPr>
        <p:spPr>
          <a:xfrm>
            <a:off x="19383427" y="12418722"/>
            <a:ext cx="1824839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Lsn增大方向</a:t>
            </a:r>
          </a:p>
        </p:txBody>
      </p:sp>
      <p:sp>
        <p:nvSpPr>
          <p:cNvPr id="530" name="ps_lowest_lsn"/>
          <p:cNvSpPr txBox="1"/>
          <p:nvPr/>
        </p:nvSpPr>
        <p:spPr>
          <a:xfrm>
            <a:off x="8572068" y="12131201"/>
            <a:ext cx="2027531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ps_lowest_lsn</a:t>
            </a:r>
          </a:p>
        </p:txBody>
      </p:sp>
      <p:sp>
        <p:nvSpPr>
          <p:cNvPr id="531" name="cn_lowest_lsn"/>
          <p:cNvSpPr txBox="1"/>
          <p:nvPr/>
        </p:nvSpPr>
        <p:spPr>
          <a:xfrm>
            <a:off x="11134027" y="12131201"/>
            <a:ext cx="2027530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cn_lowest_lsn</a:t>
            </a:r>
          </a:p>
        </p:txBody>
      </p:sp>
      <p:sp>
        <p:nvSpPr>
          <p:cNvPr id="532" name="线条"/>
          <p:cNvSpPr/>
          <p:nvPr/>
        </p:nvSpPr>
        <p:spPr>
          <a:xfrm flipH="1" flipV="1">
            <a:off x="12089273" y="12538864"/>
            <a:ext cx="1" cy="5207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33" name="线条"/>
          <p:cNvSpPr/>
          <p:nvPr/>
        </p:nvSpPr>
        <p:spPr>
          <a:xfrm flipV="1">
            <a:off x="9686199" y="12542569"/>
            <a:ext cx="1" cy="52070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34" name="Log service GC"/>
          <p:cNvSpPr txBox="1"/>
          <p:nvPr/>
        </p:nvSpPr>
        <p:spPr>
          <a:xfrm>
            <a:off x="6339306" y="10650216"/>
            <a:ext cx="2219554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</a:lstStyle>
          <a:p>
            <a:pPr/>
            <a:r>
              <a:t>Log service GC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谢谢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谢谢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